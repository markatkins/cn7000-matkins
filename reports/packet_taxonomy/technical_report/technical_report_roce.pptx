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9" r:id="rId5"/>
  </p:sldMasterIdLst>
  <p:notesMasterIdLst>
    <p:notesMasterId r:id="rId6"/>
  </p:notesMasterIdLst>
  <p:sldIdLst>
    <p:sldId id="256" r:id="rId12"/>
    <p:sldId id="329" r:id="rId85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11"/>
    <p:sldId id="320" r:id="rId10"/>
    <p:sldId id="321" r:id="rId9"/>
    <p:sldId id="322" r:id="rId8"/>
    <p:sldId id="323" r:id="rId7"/>
    <p:sldId id="324" r:id="rId80"/>
    <p:sldId id="325" r:id="rId81"/>
    <p:sldId id="326" r:id="rId82"/>
    <p:sldId id="327" r:id="rId83"/>
    <p:sldId id="328" r:id="rId84"/>
  </p:sldIdLst>
  <p:sectionLst>
    <p:section name="RoCEv2 Overview" id="{89B6FE33-B90D-444E-9B7C-1E90687F5DE5}">
      <p:sldIdLst>
        <p:sldId id="257"/>
      </p:sldIdLst>
    </p:section>
    <p:section name="RoCEv2 Packet Variants" id="{B2D1C070-5917-4D88-8DFD-0CB7AA8CB4ED}">
      <p:sldIdLst>
        <p:sldId id="260"/>
      </p:sldIdLst>
    </p:section>
    <p:section name="Header Overhead Summary" id="{F7571770-011C-4715-BA22-B1F9446F0800}">
      <p:sldIdLst>
        <p:sldId id="299"/>
      </p:sldIdLst>
    </p:section>
    <p:section name="Protocol Architecture" id="{7EA9BD4D-BE79-48EC-A51D-D770250C9990}">
      <p:sldIdLst>
        <p:sldId id="271"/>
      </p:sldIdLst>
    </p:section>
    <p:section name="Header Building Blocks" id="{210E9C79-B5FF-4CC8-9884-BF89A629626E}">
      <p:sldIdLst>
        <p:sldId id="274"/>
      </p:sldIdLst>
    </p:section>
    <p:section name="Base Transport Header (BTH)" id="{012D4AFE-AA10-49E7-902D-6011A7E8CD0C}">
      <p:sldIdLst>
        <p:sldId id="277"/>
      </p:sldIdLst>
    </p:section>
    <p:section name="Packet Variant Matrix" id="{6B51D9CA-F715-4D86-9886-AD9BDCA4EB56}">
      <p:sldIdLst>
        <p:sldId id="280"/>
      </p:sldIdLst>
    </p:section>
    <p:section name="RETH - RDMA Extended Transport Header" id="{FDF4B69A-1F13-4CE9-A3A3-CCB6B028792B}">
      <p:sldIdLst>
        <p:sldId id="283"/>
      </p:sldIdLst>
    </p:section>
    <p:section name="AETH - ACK Extended Transport Header" id="{C019263B-F512-490F-B261-270E599BE717}">
      <p:sldIdLst>
        <p:sldId id="286"/>
      </p:sldIdLst>
    </p:section>
    <p:section name="AtomicETH - Atomic Extended Transport Header" id="{99A01A37-59B7-4CBA-B6B6-8F71DC561B64}">
      <p:sldIdLst>
        <p:sldId id="290"/>
      </p:sldIdLst>
    </p:section>
    <p:section name="QP State Machine" id="{7F095DEF-7A06-4234-9231-E4CCC68B944D}">
      <p:sldIdLst>
        <p:sldId id="293"/>
      </p:sldIdLst>
    </p:section>
    <p:section name="Operation Validity Matrix" id="{5834D75D-E8AF-409D-8C4A-42B565FF0009}">
      <p:sldIdLst>
        <p:sldId id="296"/>
      </p:sldIdLst>
    </p:section>
    <p:section name="ICRC - Invariant CRC" id="{14402DEE-900D-4FEC-BDCF-5853503184F9}">
      <p:sldIdLst>
        <p:sldId id="301"/>
      </p:sldIdLst>
    </p:section>
    <p:section name="Datamodel Coverage" id="{A2F30643-97D0-4167-925C-B58FEA1B0F56}">
      <p:sldIdLst>
        <p:sldId id="304"/>
      </p:sldIdLst>
    </p:section>
    <p:section name="Detailed Header Formats" id="{60039B05-3268-4CA9-8BE7-A71D4416F0B9}">
      <p:sldIdLst>
        <p:sldId id="307"/>
      </p:sldIdLst>
    </p:section>
    <p:section name="RoCEv2 Base Transport Header" id="{1BCF6219-1088-412E-B4A9-9F88BDB6AD2F}">
      <p:sldIdLst>
        <p:sldId id="308"/>
      </p:sldIdLst>
    </p:section>
    <p:section name="RoCEv2 RDMA Extended Transport Header" id="{77183AE3-E580-4FD6-A9DE-617D10D8206F}">
      <p:sldIdLst>
        <p:sldId id="311"/>
      </p:sldIdLst>
    </p:section>
    <p:section name="RoCEv2 ACK Extended Transport Header" id="{63FC0893-DC1C-4CDC-BC18-3F2736C79B5A}">
      <p:sldIdLst>
        <p:sldId id="314"/>
      </p:sldIdLst>
    </p:section>
    <p:section name="RoCEv2 Datagram Extended Transport Header" id="{4A19A283-E32E-44BB-8F9F-FD98E2D4F476}">
      <p:sldIdLst>
        <p:sldId id="317"/>
      </p:sldIdLst>
    </p:section>
    <p:section name="RoCEv2 Atomic Extended Transport Header" id="{F395FE35-A114-482F-9A6E-D5AF52EC6550}">
      <p:sldIdLst>
        <p:sldId id="320"/>
      </p:sldIdLst>
    </p:section>
    <p:section name="RoCEv2 Immediate Data" id="{A59DC315-C5A2-4E56-BA27-821DE715FB2B}">
      <p:sldIdLst>
        <p:sldId id="323"/>
      </p:sldIdLst>
    </p:section>
    <p:section name="References" id="{8FA3526B-AD97-43E5-9CBA-7A9A54B07B3D}">
      <p:sldIdLst>
        <p:sldId id="326"/>
      </p:sldIdLst>
    </p:section>
  </p:section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5" roundtripDataSignature="AMtx7mhxDH5FARZnmGpYYgqGTRyKNkJV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A3A"/>
    <a:srgbClr val="AD53FD"/>
    <a:srgbClr val="3D0070"/>
    <a:srgbClr val="6400B9"/>
    <a:srgbClr val="8B00FE"/>
    <a:srgbClr val="000000"/>
    <a:srgbClr val="E5484D"/>
    <a:srgbClr val="D43DFD"/>
    <a:srgbClr val="12B76A"/>
    <a:srgbClr val="0006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90" d="100"/>
          <a:sy n="90" d="100"/>
        </p:scale>
        <p:origin x="588" y="-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68.xml"/><Relationship Id="rId8" Type="http://schemas.openxmlformats.org/officeDocument/2006/relationships/slide" Target="slides/slide67.xml"/><Relationship Id="rId9" Type="http://schemas.openxmlformats.org/officeDocument/2006/relationships/slide" Target="slides/slide66.xml"/><Relationship Id="rId10" Type="http://schemas.openxmlformats.org/officeDocument/2006/relationships/slide" Target="slides/slide65.xml"/><Relationship Id="rId11" Type="http://schemas.openxmlformats.org/officeDocument/2006/relationships/slide" Target="slides/slide64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customschemas.google.com/relationships/presentationmetadata" Target="metadata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Relationship Id="rId6" Type="http://schemas.openxmlformats.org/officeDocument/2006/relationships/image" Target="../media/image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mo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57" y="3948803"/>
            <a:ext cx="9112295" cy="313163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200" dirty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pPr marL="304792" marR="0" lvl="0" indent="-304792" algn="l" defTabSz="914377" rtl="0" eaLnBrk="1" fontAlgn="auto" latinLnBrk="0" hangingPunct="1">
              <a:lnSpc>
                <a:spcPct val="90000"/>
              </a:lnSpc>
              <a:spcBef>
                <a:spcPts val="2667"/>
              </a:spcBef>
              <a:spcAft>
                <a:spcPts val="0"/>
              </a:spcAft>
              <a:buClr>
                <a:schemeClr val="tx2"/>
              </a:buClr>
              <a:buSzTx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874137C-A765-47B1-B0B1-10D06AF6D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674" y="2437396"/>
            <a:ext cx="9112294" cy="1478400"/>
          </a:xfrm>
          <a:noFill/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lang="en-US" sz="40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6" name="Presenter Name 3">
            <a:extLst>
              <a:ext uri="{FF2B5EF4-FFF2-40B4-BE49-F238E27FC236}">
                <a16:creationId xmlns:a16="http://schemas.microsoft.com/office/drawing/2014/main" id="{C04F57AA-54B2-45D6-A733-72203FE0C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58" y="4987395"/>
            <a:ext cx="5120643" cy="320088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Presenter Info 4">
            <a:extLst>
              <a:ext uri="{FF2B5EF4-FFF2-40B4-BE49-F238E27FC236}">
                <a16:creationId xmlns:a16="http://schemas.microsoft.com/office/drawing/2014/main" id="{C2103BC2-100F-4A8E-85B0-54037B4529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5358" y="5271645"/>
            <a:ext cx="5120643" cy="248914"/>
          </a:xfrm>
        </p:spPr>
        <p:txBody>
          <a:bodyPr wrap="square">
            <a:spAutoFit/>
          </a:bodyPr>
          <a:lstStyle>
            <a:lvl1pPr marL="0" indent="0" algn="l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7" name="Presenter Name 3">
            <a:extLst>
              <a:ext uri="{FF2B5EF4-FFF2-40B4-BE49-F238E27FC236}">
                <a16:creationId xmlns:a16="http://schemas.microsoft.com/office/drawing/2014/main" id="{F8232522-9A11-D612-56BC-CBE29D0D45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5357" y="4695684"/>
            <a:ext cx="5120643" cy="263149"/>
          </a:xfrm>
        </p:spPr>
        <p:txBody>
          <a:bodyPr wrap="square">
            <a:sp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C246593-E14B-CD45-D152-7A1767714E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28" y="525004"/>
            <a:ext cx="4741164" cy="11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3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lain presente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1F7546-E356-2268-8B5F-0BB3552903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4836"/>
            <a:ext cx="12192000" cy="5912420"/>
          </a:xfrm>
          <a:prstGeom prst="rect">
            <a:avLst/>
          </a:prstGeom>
        </p:spPr>
      </p:pic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70" y="267246"/>
            <a:ext cx="4741164" cy="11130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FE0A42-B2E3-955C-586B-72311E87C4C1}"/>
              </a:ext>
            </a:extLst>
          </p:cNvPr>
          <p:cNvSpPr/>
          <p:nvPr userDrawn="1"/>
        </p:nvSpPr>
        <p:spPr>
          <a:xfrm>
            <a:off x="-18853" y="18658"/>
            <a:ext cx="12192000" cy="6839342"/>
          </a:xfrm>
          <a:prstGeom prst="rect">
            <a:avLst/>
          </a:prstGeom>
          <a:gradFill flip="none" rotWithShape="1">
            <a:gsLst>
              <a:gs pos="100000">
                <a:schemeClr val="tx1"/>
              </a:gs>
              <a:gs pos="1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0908" y="4990380"/>
            <a:ext cx="5120643" cy="320088"/>
          </a:xfrm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0908" y="5274630"/>
            <a:ext cx="5120643" cy="248914"/>
          </a:xfrm>
        </p:spPr>
        <p:txBody>
          <a:bodyPr wrap="square">
            <a:spAutoFit/>
          </a:bodyPr>
          <a:lstStyle>
            <a:lvl1pPr marL="0" indent="0" algn="r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9255" y="2128409"/>
            <a:ext cx="9112293" cy="1724171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54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0907" y="4698669"/>
            <a:ext cx="5120643" cy="263149"/>
          </a:xfrm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9255" y="3970780"/>
            <a:ext cx="9112293" cy="415077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3848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lain presenter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-up of a grid&#10;&#10;AI-generated content may be incorrect.">
            <a:extLst>
              <a:ext uri="{FF2B5EF4-FFF2-40B4-BE49-F238E27FC236}">
                <a16:creationId xmlns:a16="http://schemas.microsoft.com/office/drawing/2014/main" id="{41BDF87A-2A4B-D8EF-55EB-BBA05805F8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32"/>
            <a:ext cx="12363089" cy="68659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571" y="267246"/>
            <a:ext cx="4741162" cy="1113086"/>
          </a:xfrm>
          <a:prstGeom prst="rect">
            <a:avLst/>
          </a:prstGeom>
        </p:spPr>
      </p:pic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0908" y="4990380"/>
            <a:ext cx="5120643" cy="320088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0908" y="5274630"/>
            <a:ext cx="5120643" cy="248914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9255" y="2128409"/>
            <a:ext cx="9112293" cy="1724171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54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0907" y="4698669"/>
            <a:ext cx="5120643" cy="263149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9255" y="3970780"/>
            <a:ext cx="9112293" cy="415077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2783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>
  <p:cSld name="Cover B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54B4AA1-DBB2-526F-4E45-9B636FB468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901917"/>
            <a:ext cx="12192000" cy="59560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5EB7E6-B8EC-0376-3C64-7F3C1990370D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79000">
                <a:schemeClr val="tx1">
                  <a:alpha val="0"/>
                </a:schemeClr>
              </a:gs>
              <a:gs pos="13000">
                <a:schemeClr val="tx1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16;p40"/>
          <p:cNvSpPr txBox="1">
            <a:spLocks noGrp="1"/>
          </p:cNvSpPr>
          <p:nvPr>
            <p:ph type="subTitle" idx="1"/>
          </p:nvPr>
        </p:nvSpPr>
        <p:spPr>
          <a:xfrm>
            <a:off x="297642" y="4654332"/>
            <a:ext cx="9112295" cy="43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  <a:latin typeface="+mj-lt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7" name="Google Shape;17;p40"/>
          <p:cNvSpPr txBox="1">
            <a:spLocks noGrp="1"/>
          </p:cNvSpPr>
          <p:nvPr>
            <p:ph type="body" idx="2"/>
          </p:nvPr>
        </p:nvSpPr>
        <p:spPr>
          <a:xfrm>
            <a:off x="297643" y="5731853"/>
            <a:ext cx="5120643" cy="44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Google Shape;18;p40"/>
          <p:cNvSpPr txBox="1">
            <a:spLocks noGrp="1"/>
          </p:cNvSpPr>
          <p:nvPr>
            <p:ph type="body" idx="3"/>
          </p:nvPr>
        </p:nvSpPr>
        <p:spPr>
          <a:xfrm>
            <a:off x="297643" y="6016103"/>
            <a:ext cx="5120643" cy="372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0"/>
          <p:cNvSpPr txBox="1">
            <a:spLocks noGrp="1"/>
          </p:cNvSpPr>
          <p:nvPr>
            <p:ph type="title"/>
          </p:nvPr>
        </p:nvSpPr>
        <p:spPr>
          <a:xfrm>
            <a:off x="184425" y="2897379"/>
            <a:ext cx="9112293" cy="172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defRPr sz="5400" b="0">
                <a:solidFill>
                  <a:schemeClr val="bg2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0" name="Google Shape;20;p40"/>
          <p:cNvSpPr txBox="1">
            <a:spLocks noGrp="1"/>
          </p:cNvSpPr>
          <p:nvPr>
            <p:ph type="body" idx="4"/>
          </p:nvPr>
        </p:nvSpPr>
        <p:spPr>
          <a:xfrm>
            <a:off x="297642" y="5440142"/>
            <a:ext cx="5120643" cy="38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7666A5-14B2-3D36-3D70-88D79AD651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124" y="323230"/>
            <a:ext cx="4741162" cy="11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7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7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blank" preserve="1">
  <p:cSld name="Blank with logo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23BF9F8-F92A-19BC-0132-AE69C7CB9D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13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preserve="1" userDrawn="1">
  <p:cSld name="1_Title 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EDC221-ECA4-C855-89A6-27A713E5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A8D2FC7B-FD75-9151-D953-0B8E32E9D8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4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1120936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1522497-B421-1DC0-7E36-7571DBE48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8593E28C-D816-D562-4029-9FA87B3EA6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0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09302-A0C4-445D-BF16-53CD11E353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1320" y="1167898"/>
            <a:ext cx="11209360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D2746D-0340-4A15-96B1-30ACF62C6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856234"/>
            <a:ext cx="11209360" cy="432477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6A1E53DC-9DD3-543C-149A-D9E0AB76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CF7E27DE-8E32-FA75-0126-0DA79B80E6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8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5E6ABB56-9B5C-4A36-6FC3-F4794D69BF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hq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3173705"/>
            <a:ext cx="12192000" cy="3684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616" y="1584960"/>
            <a:ext cx="11299064" cy="4621876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521BFDF-A407-85B7-CE50-A0AC570A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7A2920D-D205-397E-67AE-B0189C0E4B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8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320152-06BD-632D-C7F1-BB20919BDC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0" y="3799002"/>
            <a:ext cx="12192000" cy="341250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68" y="1549392"/>
            <a:ext cx="11299064" cy="4611263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C12A23A-9F4B-B60F-C6F2-6A8BA708B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704FAB98-94B7-993A-1312-2A89FECD39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4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preserve="1" userDrawn="1">
  <p:cSld name="Title and 3 Claim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2C0FC5C-2F52-714C-CEAC-4C76258CFDC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89748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4646FCE-385C-976D-77FC-ED24EDBC73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3954" y="4169260"/>
            <a:ext cx="2098052" cy="811988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4734D29-D59F-92B4-9390-44755DB51E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451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1" name="Content Placeholder 23">
            <a:extLst>
              <a:ext uri="{FF2B5EF4-FFF2-40B4-BE49-F238E27FC236}">
                <a16:creationId xmlns:a16="http://schemas.microsoft.com/office/drawing/2014/main" id="{62E08B65-0577-AB1D-420D-BFB6E04E2F1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9846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BD25B02D-A96A-C7A3-CC43-0D4A2A0C8E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94052" y="4169260"/>
            <a:ext cx="2098052" cy="8119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E10583AA-9FA5-C03C-B239-E32B4AB99F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7549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4" name="Content Placeholder 23">
            <a:extLst>
              <a:ext uri="{FF2B5EF4-FFF2-40B4-BE49-F238E27FC236}">
                <a16:creationId xmlns:a16="http://schemas.microsoft.com/office/drawing/2014/main" id="{9F20930C-2297-EA9B-3951-6E76707AFD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675200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89435D7E-AA41-2071-45B7-C30B29DCF5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89406" y="4169260"/>
            <a:ext cx="2098052" cy="811988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0D6BF53D-2A43-BB5E-284A-BDE3286796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22903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79898D-4398-32AB-6867-E210E64C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19B98C6-F092-40D1-34D4-B0F77A1702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8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42688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74053" y="1584960"/>
            <a:ext cx="542688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A309B5A-1F63-1CE5-382D-AD190361BE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AF2404E-7607-B049-3395-564F0963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71820D11-61CD-BE19-6D62-899ADB3868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5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991" y="469209"/>
            <a:ext cx="5113613" cy="631992"/>
          </a:xfrm>
        </p:spPr>
        <p:txBody>
          <a:bodyPr>
            <a:noAutofit/>
          </a:bodyPr>
          <a:lstStyle>
            <a:lvl1pPr>
              <a:defRPr sz="4400"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title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113613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AB4C02E-8D38-49A2-8468-4C52ACE255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7067" y="469208"/>
            <a:ext cx="5113867" cy="626325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4400" b="0" i="0" dirty="0" smtClean="0">
                <a:solidFill>
                  <a:schemeClr val="bg1"/>
                </a:solidFill>
                <a:latin typeface="+mj-lt"/>
                <a:ea typeface="+mj-ea"/>
                <a:cs typeface="Poppins Medium" panose="00000600000000000000" pitchFamily="2" charset="0"/>
              </a:defRPr>
            </a:lvl1pPr>
            <a:lvl2pPr>
              <a:defRPr lang="en-US" sz="2400" dirty="0" smtClean="0"/>
            </a:lvl2pPr>
            <a:lvl3pPr>
              <a:defRPr lang="en-US" sz="2400" dirty="0" smtClean="0"/>
            </a:lvl3pPr>
            <a:lvl4pPr>
              <a:defRPr lang="en-US" sz="2400" dirty="0" smtClean="0"/>
            </a:lvl4pPr>
            <a:lvl5pPr>
              <a:defRPr lang="en-US" sz="2400" dirty="0"/>
            </a:lvl5pPr>
          </a:lstStyle>
          <a:p>
            <a:pPr marL="152396" lvl="0" indent="-457189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587069" y="1584960"/>
            <a:ext cx="5113611" cy="4636936"/>
          </a:xfrm>
        </p:spPr>
        <p:txBody>
          <a:bodyPr/>
          <a:lstStyle>
            <a:lvl1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0E6A0DDB-FBA4-C224-4D4B-E0467F2A7F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1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A418392-99DF-4D92-5299-0597BD7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51" y="1706151"/>
            <a:ext cx="537474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02E2C1D-450C-919F-32A5-794D5170E2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8851" y="628650"/>
            <a:ext cx="3554095" cy="26186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400">
                <a:solidFill>
                  <a:schemeClr val="tx2"/>
                </a:solidFill>
              </a:defRPr>
            </a:lvl2pPr>
            <a:lvl3pPr marL="914400" indent="0">
              <a:buNone/>
              <a:defRPr sz="1200">
                <a:solidFill>
                  <a:schemeClr val="tx2"/>
                </a:solidFill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25EB669-9551-7B42-346B-8835CA72F1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393" y="3227610"/>
            <a:ext cx="4769277" cy="215592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level</a:t>
            </a: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A1FE187-CF9C-3C59-D46C-39E9DF6AE5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87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3 text image with f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50E62194-15A3-1C44-558D-2CCD97554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0" y="0"/>
            <a:ext cx="7254240" cy="6858000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DD5C10-AE48-47C2-C043-9412C855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89" y="1675492"/>
            <a:ext cx="4097972" cy="1660604"/>
          </a:xfrm>
        </p:spPr>
        <p:txBody>
          <a:bodyPr>
            <a:noAutofit/>
          </a:bodyPr>
          <a:lstStyle>
            <a:lvl1pPr>
              <a:defRPr sz="4200"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B5B239F-9433-2E79-7918-C6B1E6366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490" y="3572715"/>
            <a:ext cx="4097972" cy="231773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4A61F839-F15B-A9AC-32D5-6D963FB2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9489" y="1099426"/>
            <a:ext cx="3055373" cy="37995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85F2E6-4189-688E-A923-5F1AC075A0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98A5B34-9B61-FB37-5F4C-93E47B8D6F0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89" y="217054"/>
            <a:ext cx="2048766" cy="48099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ACA8B22-1182-E22B-5B5A-3AD27B2D82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322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0935" y="1514592"/>
            <a:ext cx="735093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50936" y="2346036"/>
            <a:ext cx="7350930" cy="3903947"/>
          </a:xfrm>
        </p:spPr>
        <p:txBody>
          <a:bodyPr numCol="2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400B9"/>
              </a:buClr>
              <a:buSzPct val="100000"/>
              <a:buFont typeface="+mj-lt"/>
              <a:buNone/>
              <a:defRPr lang="en-US" sz="240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 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3981449" cy="6858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9F6EF1-348A-9A4A-F8FA-F2DD47AB0D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2C326CFA-FC4A-0FAF-CD64-36B4480A49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0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2982" y="487681"/>
            <a:ext cx="682858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2982" y="1130725"/>
            <a:ext cx="68285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982" y="1584960"/>
            <a:ext cx="6828581" cy="4575695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4400631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318E716-6564-DCF6-0ADF-1B5440B412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5166479"/>
            <a:ext cx="11209360" cy="100987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D7B4829-A151-F160-74A7-953F2848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259398"/>
            <a:ext cx="10515600" cy="1009878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71281818-ACE8-D64A-3A09-12A458B23C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6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03" y="610733"/>
            <a:ext cx="440063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04" y="1549392"/>
            <a:ext cx="440063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19870" y="3691"/>
            <a:ext cx="715036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4B87D0-2616-6A9C-1E3A-C0A3AAF585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1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2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52" y="487681"/>
            <a:ext cx="7350931" cy="53142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51" y="1117949"/>
            <a:ext cx="735093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735093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10552" y="0"/>
            <a:ext cx="3981449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B908FE8-D744-608D-FD9E-0C7CA10818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1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746" y="487681"/>
            <a:ext cx="543018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746" y="1163449"/>
            <a:ext cx="54301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136" y="1584960"/>
            <a:ext cx="543018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71684" y="0"/>
            <a:ext cx="59182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121B95-703C-D55D-BF4F-3E6CF5965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1A7054F8-BAA4-0C19-4C22-F3ECEF48FAD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7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8273" y="487681"/>
            <a:ext cx="5430181" cy="53142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8273" y="1176262"/>
            <a:ext cx="54301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273" y="1584960"/>
            <a:ext cx="5430181" cy="4658822"/>
          </a:xfrm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9182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39D744E6-E74A-1652-D0F5-7D889B7FAA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4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ntrud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426880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5AD3FD9-5B0C-46BE-A071-C012F798C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0987" y="895738"/>
            <a:ext cx="6359847" cy="5066523"/>
          </a:xfrm>
          <a:prstGeom prst="roundRect">
            <a:avLst>
              <a:gd name="adj" fmla="val 4059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EC94FC8-6A64-7AE0-4DCD-B2341FA7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259398"/>
            <a:ext cx="5516584" cy="1009878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F5D34AB3-5594-6B43-43D4-8DDE60EF54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2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ntent and Picture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265978C-1542-C937-848D-94F11105CB47}"/>
              </a:ext>
            </a:extLst>
          </p:cNvPr>
          <p:cNvSpPr txBox="1">
            <a:spLocks/>
          </p:cNvSpPr>
          <p:nvPr userDrawn="1"/>
        </p:nvSpPr>
        <p:spPr>
          <a:xfrm>
            <a:off x="5834270" y="4012189"/>
            <a:ext cx="3668960" cy="1133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endParaRPr lang="en-US" sz="3600">
              <a:solidFill>
                <a:schemeClr val="bg1"/>
              </a:solidFill>
              <a:latin typeface="Aptos Black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AC0F2F-5A34-CBCF-1CE5-4C63B1B8E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82543"/>
            <a:ext cx="5181600" cy="4351338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 Medium" panose="000006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97C7A487-723C-8EAF-33A3-0E6CEF81F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9583" y="1682543"/>
            <a:ext cx="5075582" cy="4351338"/>
          </a:xfrm>
          <a:prstGeom prst="roundRect">
            <a:avLst>
              <a:gd name="adj" fmla="val 3294"/>
            </a:avLst>
          </a:prstGeom>
          <a:noFill/>
          <a:ln w="38100">
            <a:solidFill>
              <a:schemeClr val="accent1"/>
            </a:solidFill>
          </a:ln>
          <a:effectLst>
            <a:glow rad="38100">
              <a:schemeClr val="accent2"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FA0A056-05EC-1674-3BCD-A8417F38D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B16157D1-CB4F-14E1-1727-2C40CD6B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CCC8CFF-2305-7F24-3972-0EC51013E3E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306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2E5C3F4-3663-B0DA-D297-92566BFCDF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A1374C-277A-2675-F8EB-3BEC0D00F3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9138" y="1595438"/>
            <a:ext cx="10515394" cy="169085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5"/>
                </a:solidFill>
              </a:defRPr>
            </a:lvl1pPr>
            <a:lvl2pPr>
              <a:defRPr sz="20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600">
                <a:solidFill>
                  <a:schemeClr val="accent5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6A764E-8FF8-C8E5-6D39-B3477E7F86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8932" y="3571703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FBC179B-4E5F-7167-606B-7404A31157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89447" y="3590360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AAC06FD-1B4F-E3AE-9911-96DD5380CE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294" y="3599688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727A32E-13A1-6D1E-5B43-8C3EA161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68C994E-DFBB-663A-C428-48666F0B9E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526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554182" y="2178800"/>
            <a:ext cx="526376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372131" y="2178800"/>
            <a:ext cx="5265688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554182" y="4466250"/>
            <a:ext cx="526472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85750" indent="-28575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Char char="•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 marL="2743200" indent="0">
              <a:lnSpc>
                <a:spcPct val="100000"/>
              </a:lnSpc>
              <a:spcBef>
                <a:spcPts val="137"/>
              </a:spcBef>
              <a:buNone/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 5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6374052" y="4466250"/>
            <a:ext cx="526376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85750" indent="-28575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Char char="•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004889" indent="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None/>
              <a:defRPr sz="1236">
                <a:solidFill>
                  <a:schemeClr val="accent5"/>
                </a:solidFill>
              </a:defRPr>
            </a:lvl6pPr>
            <a:lvl7pPr marL="2743200" indent="0">
              <a:lnSpc>
                <a:spcPct val="100000"/>
              </a:lnSpc>
              <a:spcBef>
                <a:spcPts val="137"/>
              </a:spcBef>
              <a:buNone/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5" name="Content Placeholder 13"/>
          <p:cNvSpPr>
            <a:spLocks noGrp="1"/>
          </p:cNvSpPr>
          <p:nvPr>
            <p:ph sz="quarter" idx="17" hasCustomPrompt="1"/>
          </p:nvPr>
        </p:nvSpPr>
        <p:spPr>
          <a:xfrm>
            <a:off x="554181" y="1170105"/>
            <a:ext cx="11083636" cy="273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2133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16500" indent="-314028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sp>
        <p:nvSpPr>
          <p:cNvPr id="7" name="shp_SDPTitle"/>
          <p:cNvSpPr>
            <a:spLocks noGrp="1"/>
          </p:cNvSpPr>
          <p:nvPr>
            <p:ph type="dt" sz="half" idx="10"/>
          </p:nvPr>
        </p:nvSpPr>
        <p:spPr>
          <a:xfrm>
            <a:off x="6096001" y="-453643"/>
            <a:ext cx="5541818" cy="161365"/>
          </a:xfrm>
          <a:prstGeom prst="rect">
            <a:avLst/>
          </a:prstGeom>
        </p:spPr>
        <p:txBody>
          <a:bodyPr vert="horz" wrap="square" lIns="45720" tIns="0" rIns="0" bIns="27432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lang="en-US" sz="1099" b="0" i="0" kern="1200" cap="all" spc="275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hp_PresTitle"/>
          <p:cNvSpPr>
            <a:spLocks noGrp="1"/>
          </p:cNvSpPr>
          <p:nvPr>
            <p:ph type="ftr" sz="quarter" idx="11"/>
          </p:nvPr>
        </p:nvSpPr>
        <p:spPr>
          <a:xfrm>
            <a:off x="554182" y="-453643"/>
            <a:ext cx="9310255" cy="161365"/>
          </a:xfrm>
          <a:prstGeom prst="rect">
            <a:avLst/>
          </a:prstGeom>
        </p:spPr>
        <p:txBody>
          <a:bodyPr vert="horz" lIns="0" tIns="0" rIns="3291840" bIns="27432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lang="en-US" sz="1099" b="0" i="0" kern="1200" cap="all" spc="275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182" y="1914754"/>
            <a:ext cx="526376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6372131" y="1914754"/>
            <a:ext cx="5265688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3"/>
          </p:nvPr>
        </p:nvSpPr>
        <p:spPr>
          <a:xfrm>
            <a:off x="554181" y="4202204"/>
            <a:ext cx="526472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25"/>
          </p:nvPr>
        </p:nvSpPr>
        <p:spPr>
          <a:xfrm>
            <a:off x="6374052" y="4202204"/>
            <a:ext cx="526376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A254D8-B036-2190-97EF-02A52F3ED6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A994474-C32F-F40E-FD59-6933F5C7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F3093AAD-750C-902E-D015-9D01ECEA59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13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554183" y="2178800"/>
            <a:ext cx="3325091" cy="1694329"/>
          </a:xfrm>
          <a:prstGeom prst="roundRect">
            <a:avLst>
              <a:gd name="adj" fmla="val 5764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6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4433455" y="2178800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312727" y="2178800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554183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7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4433455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312727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183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19"/>
          </p:nvPr>
        </p:nvSpPr>
        <p:spPr>
          <a:xfrm>
            <a:off x="4433455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8312727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5"/>
          </p:nvPr>
        </p:nvSpPr>
        <p:spPr>
          <a:xfrm>
            <a:off x="554183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Font typeface="Arial" panose="020B0604020202020204" pitchFamily="34" charset="0"/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27"/>
          </p:nvPr>
        </p:nvSpPr>
        <p:spPr>
          <a:xfrm>
            <a:off x="4433455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9"/>
          </p:nvPr>
        </p:nvSpPr>
        <p:spPr>
          <a:xfrm>
            <a:off x="8312727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7D634A0-0A20-7C31-9BDC-A2736DFE54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8ABB606A-3BC9-C46A-531A-091AFFBAC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3">
            <a:extLst>
              <a:ext uri="{FF2B5EF4-FFF2-40B4-BE49-F238E27FC236}">
                <a16:creationId xmlns:a16="http://schemas.microsoft.com/office/drawing/2014/main" id="{5B60BDF0-4865-7362-FB78-97D83DBB72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4181" y="1170105"/>
            <a:ext cx="11083636" cy="273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2133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16500" indent="-314028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EE3482-0A68-62CD-D7BA-14ABE350EA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3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bove title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48" y="4991068"/>
            <a:ext cx="5491073" cy="1239338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8252" y="4997817"/>
            <a:ext cx="4939645" cy="1239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CB23C0C-16C3-7820-3F2E-3F48329BE0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1999" cy="473225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DDED3238-25EA-37B9-DE74-9FDEC0E331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1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tails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696" y="225105"/>
            <a:ext cx="5491073" cy="123933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31854"/>
            <a:ext cx="4939645" cy="1239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52A6679B-5074-ADE1-D534-B2D3C05380C1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0" y="1847274"/>
            <a:ext cx="12191999" cy="432261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pic>
        <p:nvPicPr>
          <p:cNvPr id="6" name="Picture 5" descr="A black and grey logo&#10;&#10;AI-generated content may be incorrect.">
            <a:extLst>
              <a:ext uri="{FF2B5EF4-FFF2-40B4-BE49-F238E27FC236}">
                <a16:creationId xmlns:a16="http://schemas.microsoft.com/office/drawing/2014/main" id="{F2810511-1EC8-0082-7970-0F76BD869A9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9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9D21-9EC6-4E91-B725-D20183443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51" y="1143338"/>
            <a:ext cx="11214099" cy="4576527"/>
          </a:xfrm>
        </p:spPr>
        <p:txBody>
          <a:bodyPr anchor="ctr">
            <a:normAutofit/>
          </a:bodyPr>
          <a:lstStyle>
            <a:lvl1pPr algn="ctr">
              <a:defRPr sz="8800" b="0" i="0"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C8E286B-1138-042A-695E-6D4C499DD6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1521360-6FD0-3C73-C3F2-47061B669B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3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F0D8A42-33CC-984C-7EDA-50BD05681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89884" cy="6858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8800" b="0" i="0" dirty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BE99269-A3E1-D985-57D1-3E765ED6D9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5A7E109-C779-7004-007F-0260B1D2D2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1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5C1CF-4083-E7EF-00EE-FF1A99AF3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1709"/>
            <a:ext cx="5181600" cy="4625254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9F30E-CF9C-0B05-3435-5A43F90D2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51709"/>
            <a:ext cx="5181600" cy="4625254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DC373EE-DD46-DF07-7F2D-ED1E3422F4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11A81E7F-D137-AC94-D1F7-73F6257B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82B70A4-F12F-5DE4-A79E-31E54B710E5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07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15EF0F8-97CE-0E22-9B4D-F922AF8EAD62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57200" y="1213605"/>
            <a:ext cx="5752410" cy="1474177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0" kern="1200" dirty="0">
                <a:solidFill>
                  <a:schemeClr val="bg1"/>
                </a:solidFill>
                <a:latin typeface="+mj-lt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457200" y="2939110"/>
            <a:ext cx="5527964" cy="133438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59BAD2A-8D2F-72F2-F057-19DA028AEE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6629" y="1415834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657694"/>
            <a:ext cx="5527964" cy="458646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18F327C6-6FAD-E7BF-B7BF-6FAAC9946C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4375" y="942248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1" name="Text Placeholder 48">
            <a:extLst>
              <a:ext uri="{FF2B5EF4-FFF2-40B4-BE49-F238E27FC236}">
                <a16:creationId xmlns:a16="http://schemas.microsoft.com/office/drawing/2014/main" id="{725613CB-B711-BA66-79AB-72C08156FC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6684" y="2264244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3" name="Text Placeholder 48">
            <a:extLst>
              <a:ext uri="{FF2B5EF4-FFF2-40B4-BE49-F238E27FC236}">
                <a16:creationId xmlns:a16="http://schemas.microsoft.com/office/drawing/2014/main" id="{E50904DE-B040-6AA2-341D-BE1B13B8BB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12772" y="947092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E2970DCC-E00E-47AB-123B-5BF1AA1FC8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9241" y="2273481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6" name="Text Placeholder 48">
            <a:extLst>
              <a:ext uri="{FF2B5EF4-FFF2-40B4-BE49-F238E27FC236}">
                <a16:creationId xmlns:a16="http://schemas.microsoft.com/office/drawing/2014/main" id="{F90B4A5C-A5AA-729F-D8A5-47B3DF11D6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9472" y="3855441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7" name="Text Placeholder 48">
            <a:extLst>
              <a:ext uri="{FF2B5EF4-FFF2-40B4-BE49-F238E27FC236}">
                <a16:creationId xmlns:a16="http://schemas.microsoft.com/office/drawing/2014/main" id="{A264AFBB-FABE-A1BA-CB7A-1BCAE1BC58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42124" y="5191045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9" name="Text Placeholder 48">
            <a:extLst>
              <a:ext uri="{FF2B5EF4-FFF2-40B4-BE49-F238E27FC236}">
                <a16:creationId xmlns:a16="http://schemas.microsoft.com/office/drawing/2014/main" id="{A92E53F5-F19E-0921-777B-9DF035F1EF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29393" y="3833665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30" name="Text Placeholder 48">
            <a:extLst>
              <a:ext uri="{FF2B5EF4-FFF2-40B4-BE49-F238E27FC236}">
                <a16:creationId xmlns:a16="http://schemas.microsoft.com/office/drawing/2014/main" id="{027C6114-3E4E-0349-DB91-CEA0885B83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02368" y="5161164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0DF0EC1E-3522-50C3-E0ED-9BF15C62C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26876" y="1439042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2E971B52-39C8-95BC-D14D-309C3A1B0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71458" y="4314087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4A85916-F438-07AE-2207-3BF7500914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4378" y="4343968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6503C850-3AAD-D320-0010-6F524FBC4D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98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22502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365B4D-5860-D7E5-3D2B-C4CFFCA8C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3200" y="6366607"/>
            <a:ext cx="1713225" cy="428862"/>
          </a:xfrm>
          <a:prstGeom prst="rect">
            <a:avLst/>
          </a:prstGeom>
        </p:spPr>
      </p:pic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2502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7570-45BC-C0CF-FBFC-BBB145CB2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22502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E36326-A118-E5BC-9E5E-22304EF81BE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192743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FA85F4-34AE-8A56-0AA0-FBE5B8C6A05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62984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668BA8-2E6B-3C76-B5D0-BB17181CE5D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333225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8">
            <a:extLst>
              <a:ext uri="{FF2B5EF4-FFF2-40B4-BE49-F238E27FC236}">
                <a16:creationId xmlns:a16="http://schemas.microsoft.com/office/drawing/2014/main" id="{A06FAF7B-9D2A-3C23-00C2-2D72F7B894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92743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48">
            <a:extLst>
              <a:ext uri="{FF2B5EF4-FFF2-40B4-BE49-F238E27FC236}">
                <a16:creationId xmlns:a16="http://schemas.microsoft.com/office/drawing/2014/main" id="{2B58A56D-6E57-AEC7-E2B6-6A3941CF048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92743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48">
            <a:extLst>
              <a:ext uri="{FF2B5EF4-FFF2-40B4-BE49-F238E27FC236}">
                <a16:creationId xmlns:a16="http://schemas.microsoft.com/office/drawing/2014/main" id="{7F85A46E-B8B4-3B66-12A0-8858F8D6B7E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62984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48">
            <a:extLst>
              <a:ext uri="{FF2B5EF4-FFF2-40B4-BE49-F238E27FC236}">
                <a16:creationId xmlns:a16="http://schemas.microsoft.com/office/drawing/2014/main" id="{9F3FB04C-DFDC-709F-6DA2-D5657B0EC7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62984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48">
            <a:extLst>
              <a:ext uri="{FF2B5EF4-FFF2-40B4-BE49-F238E27FC236}">
                <a16:creationId xmlns:a16="http://schemas.microsoft.com/office/drawing/2014/main" id="{AB3837D5-65F6-F26B-0AF0-B8CA2DB281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33225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48">
            <a:extLst>
              <a:ext uri="{FF2B5EF4-FFF2-40B4-BE49-F238E27FC236}">
                <a16:creationId xmlns:a16="http://schemas.microsoft.com/office/drawing/2014/main" id="{0A621FDB-C09F-9882-464A-5252836BBE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333225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4913B24-FA82-ADBC-3F7F-917CAFFF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A8BC9970-7626-18ED-63C1-B5724033BC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743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A0704-507C-212E-4B19-9C94CCAD4F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73563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79BE282C-671B-7E01-8740-8A7F466EEB4C}"/>
              </a:ext>
            </a:extLst>
          </p:cNvPr>
          <p:cNvSpPr/>
          <p:nvPr userDrawn="1"/>
        </p:nvSpPr>
        <p:spPr>
          <a:xfrm>
            <a:off x="914401" y="2255038"/>
            <a:ext cx="676656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Poppins" pitchFamily="2" charset="77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61502A4-5F5D-65C0-03BE-1F72B2BD0B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1" y="2627382"/>
            <a:ext cx="6656044" cy="1719247"/>
          </a:xfrm>
        </p:spPr>
        <p:txBody>
          <a:bodyPr>
            <a:no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THANK YOU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9D372599-5F65-8CBA-1D98-016082E9633E}"/>
              </a:ext>
            </a:extLst>
          </p:cNvPr>
          <p:cNvGrpSpPr/>
          <p:nvPr userDrawn="1"/>
        </p:nvGrpSpPr>
        <p:grpSpPr>
          <a:xfrm flipV="1">
            <a:off x="626909" y="4939722"/>
            <a:ext cx="7250126" cy="764786"/>
            <a:chOff x="0" y="0"/>
            <a:chExt cx="1062419" cy="898977"/>
          </a:xfrm>
          <a:noFill/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9CD53BA2-7E44-56E6-D652-83A3A753C24F}"/>
                </a:ext>
              </a:extLst>
            </p:cNvPr>
            <p:cNvSpPr/>
            <p:nvPr/>
          </p:nvSpPr>
          <p:spPr>
            <a:xfrm>
              <a:off x="0" y="0"/>
              <a:ext cx="1062419" cy="898977"/>
            </a:xfrm>
            <a:custGeom>
              <a:avLst/>
              <a:gdLst/>
              <a:ahLst/>
              <a:cxnLst/>
              <a:rect l="l" t="t" r="r" b="b"/>
              <a:pathLst>
                <a:path w="1062419" h="898977">
                  <a:moveTo>
                    <a:pt x="46061" y="0"/>
                  </a:moveTo>
                  <a:lnTo>
                    <a:pt x="1016357" y="0"/>
                  </a:lnTo>
                  <a:cubicBezTo>
                    <a:pt x="1028573" y="0"/>
                    <a:pt x="1040289" y="4853"/>
                    <a:pt x="1048927" y="13491"/>
                  </a:cubicBezTo>
                  <a:cubicBezTo>
                    <a:pt x="1057566" y="22129"/>
                    <a:pt x="1062419" y="33845"/>
                    <a:pt x="1062419" y="46061"/>
                  </a:cubicBezTo>
                  <a:lnTo>
                    <a:pt x="1062419" y="852916"/>
                  </a:lnTo>
                  <a:cubicBezTo>
                    <a:pt x="1062419" y="878355"/>
                    <a:pt x="1041796" y="898977"/>
                    <a:pt x="1016357" y="898977"/>
                  </a:cubicBezTo>
                  <a:lnTo>
                    <a:pt x="46061" y="898977"/>
                  </a:lnTo>
                  <a:cubicBezTo>
                    <a:pt x="33845" y="898977"/>
                    <a:pt x="22129" y="894124"/>
                    <a:pt x="13491" y="885486"/>
                  </a:cubicBezTo>
                  <a:cubicBezTo>
                    <a:pt x="4853" y="876848"/>
                    <a:pt x="0" y="865132"/>
                    <a:pt x="0" y="852916"/>
                  </a:cubicBezTo>
                  <a:lnTo>
                    <a:pt x="0" y="46061"/>
                  </a:lnTo>
                  <a:cubicBezTo>
                    <a:pt x="0" y="33845"/>
                    <a:pt x="4853" y="22129"/>
                    <a:pt x="13491" y="13491"/>
                  </a:cubicBezTo>
                  <a:cubicBezTo>
                    <a:pt x="22129" y="4853"/>
                    <a:pt x="33845" y="0"/>
                    <a:pt x="46061" y="0"/>
                  </a:cubicBezTo>
                  <a:close/>
                </a:path>
              </a:pathLst>
            </a:custGeom>
            <a:grpFill/>
            <a:ln cap="rnd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639B46FF-1867-AD34-F177-B306F16BBDD8}"/>
                </a:ext>
              </a:extLst>
            </p:cNvPr>
            <p:cNvSpPr txBox="1"/>
            <p:nvPr/>
          </p:nvSpPr>
          <p:spPr>
            <a:xfrm>
              <a:off x="0" y="0"/>
              <a:ext cx="1062419" cy="898977"/>
            </a:xfrm>
            <a:prstGeom prst="rect">
              <a:avLst/>
            </a:prstGeom>
            <a:grpFill/>
            <a:ln cap="rnd">
              <a:noFill/>
              <a:prstDash val="solid"/>
              <a:round/>
            </a:ln>
          </p:spPr>
          <p:txBody>
            <a:bodyPr/>
            <a:lstStyle>
              <a:defPPr>
                <a:defRPr lang="en-US"/>
              </a:defPPr>
              <a:lvl1pPr defTabSz="609630">
                <a:defRPr sz="1050">
                  <a:solidFill>
                    <a:prstClr val="black"/>
                  </a:solidFill>
                  <a:latin typeface="Poppins" pitchFamily="2" charset="77"/>
                  <a:cs typeface="Poppins" pitchFamily="2" charset="77"/>
                </a:defRPr>
              </a:lvl1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5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5B8FD09-F756-CB68-519C-C9F8F0E24D3D}"/>
              </a:ext>
            </a:extLst>
          </p:cNvPr>
          <p:cNvSpPr txBox="1"/>
          <p:nvPr userDrawn="1"/>
        </p:nvSpPr>
        <p:spPr>
          <a:xfrm>
            <a:off x="1346390" y="5054911"/>
            <a:ext cx="1737278" cy="25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+1 (484) 497-9660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E630F4-0594-416D-EA76-B04F60909ADB}"/>
              </a:ext>
            </a:extLst>
          </p:cNvPr>
          <p:cNvSpPr txBox="1"/>
          <p:nvPr userDrawn="1"/>
        </p:nvSpPr>
        <p:spPr>
          <a:xfrm>
            <a:off x="3820898" y="5054911"/>
            <a:ext cx="2716331" cy="25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0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sales@cornelisnetworks.com</a:t>
            </a:r>
            <a:endParaRPr kumimoji="0" lang="en-US" sz="1252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Poppins"/>
              <a:cs typeface="Poppins" pitchFamily="2" charset="77"/>
              <a:sym typeface="Poppins"/>
            </a:endParaRPr>
          </a:p>
        </p:txBody>
      </p:sp>
      <p:pic>
        <p:nvPicPr>
          <p:cNvPr id="6" name="Graphic 5" descr="Receiver outline">
            <a:extLst>
              <a:ext uri="{FF2B5EF4-FFF2-40B4-BE49-F238E27FC236}">
                <a16:creationId xmlns:a16="http://schemas.microsoft.com/office/drawing/2014/main" id="{DD310583-552B-910A-B31F-FE6E4FE395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1" y="4988397"/>
            <a:ext cx="365760" cy="365760"/>
          </a:xfrm>
          <a:prstGeom prst="rect">
            <a:avLst/>
          </a:prstGeom>
        </p:spPr>
      </p:pic>
      <p:pic>
        <p:nvPicPr>
          <p:cNvPr id="11" name="Graphic 10" descr="Envelope outline">
            <a:extLst>
              <a:ext uri="{FF2B5EF4-FFF2-40B4-BE49-F238E27FC236}">
                <a16:creationId xmlns:a16="http://schemas.microsoft.com/office/drawing/2014/main" id="{EE518D7A-270D-FD50-01D0-96118EBE06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4719" y="4988397"/>
            <a:ext cx="365760" cy="36576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8F5B4A2-B01E-622A-7F81-4BFFF331619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830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1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4D6068FC-F282-E9CB-984C-7C16A98077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265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 userDrawn="1">
  <p:cSld name="1_Cover B">
    <p:bg>
      <p:bgPr>
        <a:solidFill>
          <a:srgbClr val="FF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0"/>
          <p:cNvSpPr txBox="1">
            <a:spLocks noGrp="1"/>
          </p:cNvSpPr>
          <p:nvPr>
            <p:ph type="title" hasCustomPrompt="1"/>
          </p:nvPr>
        </p:nvSpPr>
        <p:spPr>
          <a:xfrm>
            <a:off x="862140" y="2431694"/>
            <a:ext cx="10775678" cy="3137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 sz="5400" b="0">
                <a:solidFill>
                  <a:schemeClr val="tx1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/>
            </a:pPr>
            <a:r>
              <a:rPr lang="en-US" dirty="0"/>
              <a:t>These slides are Top Secret</a:t>
            </a:r>
            <a:br>
              <a:rPr lang="en-US" dirty="0"/>
            </a:br>
            <a:r>
              <a:rPr lang="en-US" dirty="0"/>
              <a:t>Do not send or share without express legal clearance.</a:t>
            </a:r>
            <a:endParaRPr dirty="0"/>
          </a:p>
        </p:txBody>
      </p:sp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EA7599D-FB87-D858-733C-BB481ABDB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524" y="545661"/>
            <a:ext cx="6323648" cy="14856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45567-26DF-8F31-9C21-0DCE9FDE40A1}"/>
              </a:ext>
            </a:extLst>
          </p:cNvPr>
          <p:cNvSpPr txBox="1"/>
          <p:nvPr userDrawn="1"/>
        </p:nvSpPr>
        <p:spPr>
          <a:xfrm>
            <a:off x="101600" y="6478593"/>
            <a:ext cx="2733964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Cornelis Top Secret</a:t>
            </a:r>
          </a:p>
        </p:txBody>
      </p:sp>
    </p:spTree>
    <p:extLst>
      <p:ext uri="{BB962C8B-B14F-4D97-AF65-F5344CB8AC3E}">
        <p14:creationId xmlns:p14="http://schemas.microsoft.com/office/powerpoint/2010/main" val="113205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11209360" cy="4603404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5E3FD-D4CE-0DDE-D573-F54AA61BA350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</a:rPr>
              <a:t>Cornelis Top Secret – Do not share or send without express legal permission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8255B2B-A892-C2C2-8324-89495645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DF7B73-6892-0651-ED46-D7D49E2607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1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376BCA-AC88-72C1-BEDF-5F744A98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7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19443-4A6B-1607-F5CB-613B96E28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right Line 5">
            <a:extLst>
              <a:ext uri="{FF2B5EF4-FFF2-40B4-BE49-F238E27FC236}">
                <a16:creationId xmlns:a16="http://schemas.microsoft.com/office/drawing/2014/main" id="{12448BE5-99DB-9E21-FBB8-3BEA3F2BDA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03635" y="6654800"/>
            <a:ext cx="5848351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lang="en-US" sz="900" kern="120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kern="1200" dirty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t>  |  C</a:t>
            </a:r>
            <a:r>
              <a:rPr lang="en-US" sz="9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ornelis Networks  </a:t>
            </a:r>
            <a:r>
              <a:rPr lang="en-US" sz="900" kern="1200" dirty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t> | </a:t>
            </a:r>
            <a:r>
              <a:rPr lang="en-US" sz="9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 Confidential  </a:t>
            </a:r>
            <a:endParaRPr lang="en-US" sz="900" kern="1200" dirty="0">
              <a:solidFill>
                <a:schemeClr val="tx1"/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5" name="Copyright Line 5">
            <a:extLst>
              <a:ext uri="{FF2B5EF4-FFF2-40B4-BE49-F238E27FC236}">
                <a16:creationId xmlns:a16="http://schemas.microsoft.com/office/drawing/2014/main" id="{2093A638-C302-AABC-69E2-1C3E3C3B3E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00584" y="6656832"/>
            <a:ext cx="5848351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lang="en-US" sz="900" kern="1200" smtClean="0">
                <a:solidFill>
                  <a:schemeClr val="accent5"/>
                </a:solidFill>
                <a:latin typeface="Poppins" pitchFamily="2" charset="77"/>
                <a:ea typeface="+mn-ea"/>
                <a:cs typeface="Poppins" pitchFamily="2" charset="77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kern="1200" dirty="0">
                <a:solidFill>
                  <a:schemeClr val="accent5"/>
                </a:solidFill>
                <a:latin typeface="Poppins" pitchFamily="2" charset="77"/>
                <a:ea typeface="+mn-ea"/>
                <a:cs typeface="Poppins" pitchFamily="2" charset="77"/>
              </a:rPr>
              <a:t>  |  C</a:t>
            </a:r>
            <a:r>
              <a:rPr lang="en-US" sz="900" dirty="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ornelis Networks | Confidential</a:t>
            </a:r>
            <a:endParaRPr lang="en-US" sz="900" kern="1200" dirty="0">
              <a:solidFill>
                <a:schemeClr val="accent5"/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155198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4" r:id="rId2"/>
    <p:sldLayoutId id="2147483829" r:id="rId3"/>
    <p:sldLayoutId id="2147483777" r:id="rId4"/>
    <p:sldLayoutId id="2147483745" r:id="rId5"/>
    <p:sldLayoutId id="2147483775" r:id="rId6"/>
    <p:sldLayoutId id="2147483776" r:id="rId7"/>
    <p:sldLayoutId id="2147483746" r:id="rId8"/>
    <p:sldLayoutId id="2147483748" r:id="rId9"/>
    <p:sldLayoutId id="2147483826" r:id="rId10"/>
    <p:sldLayoutId id="2147483828" r:id="rId11"/>
    <p:sldLayoutId id="2147483778" r:id="rId12"/>
    <p:sldLayoutId id="2147483749" r:id="rId13"/>
    <p:sldLayoutId id="2147483758" r:id="rId14"/>
    <p:sldLayoutId id="2147483767" r:id="rId15"/>
    <p:sldLayoutId id="2147483768" r:id="rId16"/>
    <p:sldLayoutId id="2147483747" r:id="rId17"/>
    <p:sldLayoutId id="2147483753" r:id="rId18"/>
    <p:sldLayoutId id="2147483820" r:id="rId19"/>
    <p:sldLayoutId id="2147483783" r:id="rId20"/>
    <p:sldLayoutId id="2147483751" r:id="rId21"/>
    <p:sldLayoutId id="2147483752" r:id="rId22"/>
    <p:sldLayoutId id="2147483754" r:id="rId23"/>
    <p:sldLayoutId id="2147483750" r:id="rId24"/>
    <p:sldLayoutId id="2147483764" r:id="rId25"/>
    <p:sldLayoutId id="2147483766" r:id="rId26"/>
    <p:sldLayoutId id="2147483756" r:id="rId27"/>
    <p:sldLayoutId id="2147483757" r:id="rId28"/>
    <p:sldLayoutId id="2147483759" r:id="rId29"/>
    <p:sldLayoutId id="2147483760" r:id="rId30"/>
    <p:sldLayoutId id="2147483761" r:id="rId31"/>
    <p:sldLayoutId id="2147483763" r:id="rId32"/>
    <p:sldLayoutId id="2147483765" r:id="rId33"/>
    <p:sldLayoutId id="2147483769" r:id="rId34"/>
    <p:sldLayoutId id="2147483770" r:id="rId35"/>
    <p:sldLayoutId id="2147483772" r:id="rId36"/>
    <p:sldLayoutId id="2147483832" r:id="rId37"/>
    <p:sldLayoutId id="2147483822" r:id="rId38"/>
    <p:sldLayoutId id="2147483821" r:id="rId3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+mj-lt"/>
          <a:ea typeface="+mj-ea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" Target="slide2.xml"/><Relationship Id="rId3" Type="http://schemas.openxmlformats.org/officeDocument/2006/relationships/slide" Target="slide5.xml"/><Relationship Id="rId4" Type="http://schemas.openxmlformats.org/officeDocument/2006/relationships/slide" Target="slide10.xml"/><Relationship Id="rId5" Type="http://schemas.openxmlformats.org/officeDocument/2006/relationships/slide" Target="slide16.xml"/><Relationship Id="rId6" Type="http://schemas.openxmlformats.org/officeDocument/2006/relationships/slide" Target="slide19.xml"/><Relationship Id="rId7" Type="http://schemas.openxmlformats.org/officeDocument/2006/relationships/slide" Target="slide22.xml"/><Relationship Id="rId8" Type="http://schemas.openxmlformats.org/officeDocument/2006/relationships/slide" Target="slide25.xml"/><Relationship Id="rId9" Type="http://schemas.openxmlformats.org/officeDocument/2006/relationships/slide" Target="slide28.xml"/><Relationship Id="rId10" Type="http://schemas.openxmlformats.org/officeDocument/2006/relationships/slide" Target="slide31.xml"/><Relationship Id="rId11" Type="http://schemas.openxmlformats.org/officeDocument/2006/relationships/slide" Target="slide35.xml"/><Relationship Id="rId12" Type="http://schemas.openxmlformats.org/officeDocument/2006/relationships/slide" Target="slide38.xml"/><Relationship Id="rId13" Type="http://schemas.openxmlformats.org/officeDocument/2006/relationships/slide" Target="slide41.xml"/><Relationship Id="rId14" Type="http://schemas.openxmlformats.org/officeDocument/2006/relationships/slide" Target="slide44.xml"/><Relationship Id="rId15" Type="http://schemas.openxmlformats.org/officeDocument/2006/relationships/slide" Target="slide46.xml"/><Relationship Id="rId16" Type="http://schemas.openxmlformats.org/officeDocument/2006/relationships/slide" Target="slide49.xml"/><Relationship Id="rId17" Type="http://schemas.openxmlformats.org/officeDocument/2006/relationships/slide" Target="slide52.xml"/><Relationship Id="rId18" Type="http://schemas.openxmlformats.org/officeDocument/2006/relationships/slide" Target="slide53.xml"/><Relationship Id="rId19" Type="http://schemas.openxmlformats.org/officeDocument/2006/relationships/slide" Target="slide56.xml"/><Relationship Id="rId20" Type="http://schemas.openxmlformats.org/officeDocument/2006/relationships/slide" Target="slide59.xml"/><Relationship Id="rId21" Type="http://schemas.openxmlformats.org/officeDocument/2006/relationships/slide" Target="slide62.xml"/><Relationship Id="rId22" Type="http://schemas.openxmlformats.org/officeDocument/2006/relationships/slide" Target="slide65.xml"/><Relationship Id="rId23" Type="http://schemas.openxmlformats.org/officeDocument/2006/relationships/slide" Target="slide68.xml"/><Relationship Id="rId24" Type="http://schemas.openxmlformats.org/officeDocument/2006/relationships/slide" Target="slide7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RDMA over Converged Ethernet v2 Protocol Formats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PMR Packet Taxonomy: RoCEv2 Technical Report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Packet Taxonomy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Cornelis Networks Engineering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RoCEv2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RDMA over Converged Ethernet v2 Characteristics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RoCEv2 Key Characteristics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PMR Supported Transport 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389"/>
                <a:gridCol w="891247"/>
                <a:gridCol w="6416988"/>
                <a:gridCol w="320849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PMR Support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Reliable Connection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0x20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Unreliable Connection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0x40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Reliable Datagram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0x60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Unreliable Datagram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CNP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0x80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Congestion Notification Packet (ECN)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XRC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0xA0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Extended Reliable Connection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 - Not Supported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RoCEv2 Packet Variants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Complete packet type matrix with header stacks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RC </a:t>
            </a:r>
            <a:r>
              <a:rPr sz="2000"/>
              <a:t>(Reliable Connection) Packet Variants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564"/>
                <a:gridCol w="4625831"/>
                <a:gridCol w="1269836"/>
                <a:gridCol w="3083887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Variant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Header Stack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Total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 SEND_ONLY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 → IPv4 → UDP → BTH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58B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Single-packet send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 SEND_ONLY_IMM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 → IPv4 → UDP → BTH → ImmDt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62B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Send with immediate data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 SEND_FIRST/MIDDLE/LAST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 → IPv4 → UDP → BTH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58B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Multi-packet send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 RDMA_WRITE_ONLY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 → IPv4 → UDP → BTH → RETH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74B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Single-packet RDMA write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 RDMA_WRITE_ONLY_IMM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 → IPv4 → UDP → BTH → RETH → ImmDt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78B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RDMA write with immediate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 RDMA_WRITE_FIRST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 → IPv4 → UDP → BTH → RETH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74B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First packet of multi-packet write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 RDMA_WRITE_MIDDLE/LAST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 → IPv4 → UDP → BTH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58B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Continuation packets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 RDMA_READ_REQUEST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 → IPv4 → UDP → BTH → RETH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74B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RDMA read request (no payload)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 RDMA_READ_RESPONSE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 → IPv4 → UDP → BTH → AETH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62B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RDMA read response with data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 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 → IPv4 → UDP → BTH → AETH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62B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Acknowledgment (no payload)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 CMP_SWAP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 → IPv4 → UDP → BTH → AtomicETH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Compare-and-swap atomic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 FETCH_ADD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 → IPv4 → UDP → BTH → AtomicETH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Fetch-and-add atomic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 ATOMIC_ACK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 → IPv4 → UDP → BTH → AETH → AtomicAckETH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70B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Atomic operation response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UD </a:t>
            </a:r>
            <a:r>
              <a:rPr sz="2000"/>
              <a:t>(Unreliable Datagram) Packet Variants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240"/>
                <a:gridCol w="4582160"/>
                <a:gridCol w="1457960"/>
                <a:gridCol w="354076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Variant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Header Stack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UD SEND_ONLY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UDP → BTH → DETH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Connectionless send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UD SEND_ONLY_IMM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UDP → BTH → DETH → ImmDt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Connectionless send with immediate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UC </a:t>
            </a:r>
            <a:r>
              <a:rPr sz="2000"/>
              <a:t>(Unreliable Connection) Packet Variants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794"/>
                <a:gridCol w="4008874"/>
                <a:gridCol w="1559006"/>
                <a:gridCol w="356344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Variant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Header Stack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UC SEND_ONLY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UDP → BTH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Unreliable send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UC RDMA_WRITE_ONLY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UDP → BTH → RETH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Unreliable RDMA write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UC RDMA_WRITE_FIRST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IPv4 → UDP → BTH → RETH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First packet of unreliable write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IPv6 Packet Variants </a:t>
            </a:r>
            <a:r>
              <a:rPr sz="2000"/>
              <a:t>(Add 20B to IPv4 overhead)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181"/>
                <a:gridCol w="4089861"/>
                <a:gridCol w="1590501"/>
                <a:gridCol w="272657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Variant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Header Stack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RC SEND_ONLY (IPv6)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IPv6 → UDP → BTH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IPv6 single-packet send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RC RDMA_WRITE_ONLY (IPv6)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IPv6 → UDP → BTH → RETH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IPv6 RDMA write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UD SEND_ONLY (IPv6)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→ IPv6 → UDP → BTH → DETH → 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IPv6 connectionless send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Overhead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Detailed header size breakdown by component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Header Size by Component </a:t>
            </a:r>
            <a:r>
              <a:rPr sz="2000"/>
              <a:t>(IPv4)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6427"/>
                <a:gridCol w="682875"/>
                <a:gridCol w="682875"/>
                <a:gridCol w="682875"/>
                <a:gridCol w="682875"/>
                <a:gridCol w="3833044"/>
                <a:gridCol w="682875"/>
                <a:gridCol w="83327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Operation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Eth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IP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UDP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Extended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SEND_ONLY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58B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SEND_ONLY_IMM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 (ImmDt)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62B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RDMA_WRITE_ONLY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16B (RETH)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74B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RDMA_WRITE_ONLY_IMM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 (RETH+ImmDt)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78B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RDMA_READ_REQUEST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16B (RETH)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74B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RDMA_READ_RESPONSE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 (AETH)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62B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 (AETH)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62B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CMP_SWAP/FETCH_ADD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28B (AtomicETH)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86B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ATOMIC_ACK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 (AETH+AtomicAckETH)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70B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UD SEND_ONLY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8B (DETH)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66B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Protocol Efficiency Comparison </a:t>
            </a:r>
            <a:r>
              <a:rPr sz="2000"/>
              <a:t>(4KB Payload)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2421"/>
                <a:gridCol w="2014409"/>
                <a:gridCol w="2014409"/>
                <a:gridCol w="268587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Min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Max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Efficiency (4KB)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RoCEv2 RC SEND (IPv4)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98.6%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RoCEv2 RC RDMA_WRITE (IPv4)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74B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98.2%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RoCEv2 UD SEND (IPv4)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66B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98.4%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RoCEv2 RC SEND (IPv6)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98.1%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Standard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97.6%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Small Message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88B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97.9%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┌──────────┬──────────┬──────────┬──────────┬──────────┐</a:t>
            </a:r>
          </a:p>
          <a:p>
            <a:r>
              <a:rPr sz="1200">
                <a:latin typeface="Consolas"/>
              </a:rPr>
              <a:t>│ Ethernet │   IPv4   │   UDP    │   BTH    │   ICRC   │</a:t>
            </a:r>
          </a:p>
          <a:p>
            <a:r>
              <a:rPr sz="1200">
                <a:latin typeface="Consolas"/>
              </a:rPr>
              <a:t>│   14B    │   20B    │   8B     │   12B    │    4B    │</a:t>
            </a:r>
          </a:p>
          <a:p>
            <a:r>
              <a:rPr sz="1200">
                <a:latin typeface="Consolas"/>
              </a:rPr>
              <a:t>└──────────┴──────────┴──────────┴──────────┴──────────┘</a:t>
            </a:r>
          </a:p>
          <a:p/>
          <a:p>
            <a:r>
              <a:rPr sz="1200">
                <a:latin typeface="Consolas"/>
              </a:rPr>
              <a:t>Component Breakdown:</a:t>
            </a:r>
          </a:p>
          <a:p>
            <a:r>
              <a:rPr sz="1200">
                <a:latin typeface="Consolas"/>
              </a:rPr>
              <a:t>- Ethernet II (14B): dst_mac[6B], src_mac[6B], ethertype=0x0800[2B]</a:t>
            </a:r>
          </a:p>
          <a:p>
            <a:r>
              <a:rPr sz="1200">
                <a:latin typeface="Consolas"/>
              </a:rPr>
              <a:t>- IPv4 (20B): version, IHL, DSCP/ECN, length, ID, flags, TTL, protocol=17, checksum, src_ip, dst_ip</a:t>
            </a:r>
          </a:p>
          <a:p>
            <a:r>
              <a:rPr sz="1200">
                <a:latin typeface="Consolas"/>
              </a:rPr>
              <a:t>- UDP (8B): src_port (entropy), dst_port=4791, length, checksum</a:t>
            </a:r>
          </a:p>
          <a:p>
            <a:r>
              <a:rPr sz="1200">
                <a:latin typeface="Consolas"/>
              </a:rPr>
              <a:t>- BTH (12B): opcode=0x04, flags, p_key, dest_qp, ack_req, psn</a:t>
            </a:r>
          </a:p>
          <a:p>
            <a:r>
              <a:rPr sz="1200">
                <a:latin typeface="Consolas"/>
              </a:rPr>
              <a:t>- ICRC (4B): CRC-32 over BTH + payload (with masked fields)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RoCEv2 RC SEND_ONLY Wire Format (58B)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┌──────────┬──────────┬──────────┬──────────┬──────────┬──────────┐</a:t>
            </a:r>
          </a:p>
          <a:p>
            <a:r>
              <a:rPr sz="1200">
                <a:latin typeface="Consolas"/>
              </a:rPr>
              <a:t>│ Ethernet │   IPv4   │   UDP    │   BTH    │   RETH   │   ICRC   │</a:t>
            </a:r>
          </a:p>
          <a:p>
            <a:r>
              <a:rPr sz="1200">
                <a:latin typeface="Consolas"/>
              </a:rPr>
              <a:t>│   14B    │   20B    │   8B     │   12B    │   16B    │    4B    │</a:t>
            </a:r>
          </a:p>
          <a:p>
            <a:r>
              <a:rPr sz="1200">
                <a:latin typeface="Consolas"/>
              </a:rPr>
              <a:t>└──────────┴──────────┴──────────┴──────────┴──────────┴──────────┘</a:t>
            </a:r>
          </a:p>
          <a:p/>
          <a:p>
            <a:r>
              <a:rPr sz="1200">
                <a:latin typeface="Consolas"/>
              </a:rPr>
              <a:t>RETH (16B):</a:t>
            </a:r>
          </a:p>
          <a:p>
            <a:r>
              <a:rPr sz="1200">
                <a:latin typeface="Consolas"/>
              </a:rPr>
              <a:t>- virtual_address[64b]: Remote memory address</a:t>
            </a:r>
          </a:p>
          <a:p>
            <a:r>
              <a:rPr sz="1200">
                <a:latin typeface="Consolas"/>
              </a:rPr>
              <a:t>- r_key[32b]: Remote key for memory authorization</a:t>
            </a:r>
          </a:p>
          <a:p>
            <a:r>
              <a:rPr sz="1200">
                <a:latin typeface="Consolas"/>
              </a:rPr>
              <a:t>- dma_length[32b]: Total bytes to transfer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RoCEv2 RC RDMA_WRITE_ONLY Wire Format (74B)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┌──────────┬──────────┬──────────┬──────────┬────────────┬──────────┐</a:t>
            </a:r>
          </a:p>
          <a:p>
            <a:r>
              <a:rPr sz="1200">
                <a:latin typeface="Consolas"/>
              </a:rPr>
              <a:t>│ Ethernet │   IPv4   │   UDP    │   BTH    │ AtomicETH  │   ICRC   │</a:t>
            </a:r>
          </a:p>
          <a:p>
            <a:r>
              <a:rPr sz="1200">
                <a:latin typeface="Consolas"/>
              </a:rPr>
              <a:t>│   14B    │   20B    │   8B     │   12B    │    28B     │    4B    │</a:t>
            </a:r>
          </a:p>
          <a:p>
            <a:r>
              <a:rPr sz="1200">
                <a:latin typeface="Consolas"/>
              </a:rPr>
              <a:t>└──────────┴──────────┴──────────┴──────────┴────────────┴──────────┘</a:t>
            </a:r>
          </a:p>
          <a:p/>
          <a:p>
            <a:r>
              <a:rPr sz="1200">
                <a:latin typeface="Consolas"/>
              </a:rPr>
              <a:t>AtomicETH (28B):</a:t>
            </a:r>
          </a:p>
          <a:p>
            <a:r>
              <a:rPr sz="1200">
                <a:latin typeface="Consolas"/>
              </a:rPr>
              <a:t>- virtual_address[64b]: Remote address (must be 8-byte aligned)</a:t>
            </a:r>
          </a:p>
          <a:p>
            <a:r>
              <a:rPr sz="1200">
                <a:latin typeface="Consolas"/>
              </a:rPr>
              <a:t>- r_key[32b]: Remote key for memory authorization</a:t>
            </a:r>
          </a:p>
          <a:p>
            <a:r>
              <a:rPr sz="1200">
                <a:latin typeface="Consolas"/>
              </a:rPr>
              <a:t>- swap_or_add_data[64b]: Swap value (CMP_SWAP) or Add value (FETCH_ADD)</a:t>
            </a:r>
          </a:p>
          <a:p>
            <a:r>
              <a:rPr sz="1200">
                <a:latin typeface="Consolas"/>
              </a:rPr>
              <a:t>- compare_data[64b]: Compare value (CMP_SWAP only, 0 for FETCH_ADD)</a:t>
            </a:r>
          </a:p>
          <a:p/>
          <a:p>
            <a:r>
              <a:rPr sz="1200">
                <a:latin typeface="Consolas"/>
              </a:rPr>
              <a:t>Semantics:</a:t>
            </a:r>
          </a:p>
          <a:p>
            <a:r>
              <a:rPr sz="1200">
                <a:latin typeface="Consolas"/>
              </a:rPr>
              <a:t>- CMP_SWAP: if (*addr == compare_data) { *addr = swap_data; } return original;</a:t>
            </a:r>
          </a:p>
          <a:p>
            <a:r>
              <a:rPr sz="1200">
                <a:latin typeface="Consolas"/>
              </a:rPr>
              <a:t>- FETCH_ADD: original = *addr; *addr += add_data; return original;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RoCEv2 RC CMP_SWAP/FETCH_ADD Wire Format (86B)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RoCEv2 Packet Encapsulation Stack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RoCEv2 Protocol Stack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Protocol Layer Sizes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572"/>
                <a:gridCol w="2209255"/>
                <a:gridCol w="2410097"/>
                <a:gridCol w="482019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Component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 (bytes)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Notes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Ethernet II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+4 bytes if VLAN tagged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+options if present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+extension headers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UDP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Fixed size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Always present in RoCEv2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Trailer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Always present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RoCEv2 Transport and Extended Headers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RoCEv2 Header Datamodel Files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365"/>
                <a:gridCol w="2615609"/>
                <a:gridCol w="1046243"/>
                <a:gridCol w="601590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Purpose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BTH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Base Transport Header - present in all packets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RDMA Extended - remote address for RDMA ops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AETH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 Extended - acknowledgment and credits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DETH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Datagram Extended - source QP for UD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ImmDt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immdt.ksy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Immediate Data - 32-bit app-defined value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AtomicETH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atomiceth.ksy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Atomic Extended - CMP_SWAP/FETCH_ADD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AtomicAckETH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atomicacketh.ksy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Atomic ACK - original value response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icrc.ksy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Invariant CRC - end-to-end integrity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QP FSM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qp_state_machine.ksy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N/A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Queue Pair state machine definition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Datamodel Location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Transport Header (BTH)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12-byte header present in all RoCEv2 packets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BTH Field Layout (bth.ksy)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574"/>
                <a:gridCol w="726384"/>
                <a:gridCol w="971144"/>
                <a:gridCol w="7931016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opcode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Transport type [7:5] + Operation [4:0]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flags.SE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1[7]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Solicited Event - request completion notification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flags.M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1[6]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Migration state (MigReq)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flags.pad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1[5:4]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Pad count (0-3 bytes)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flags.tver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1[3:0]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Transport version (must be 0)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p_key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2-3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Partition key (bit 15 = membership type)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Reserved (FECN/BECN when ECN enabled)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dest_qp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5-7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Destination Queue Pair number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ack_req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8[7]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ACK request (reliable transports only)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reserved2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8[6:0]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Reserved (must be zero)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psn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9-11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Packet Sequence Number (24-bit, wraps)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BTH Opcode Encoding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Packet Variant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Operations and Extended Headers by Type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Operation Codes and Extended Headers </a:t>
            </a:r>
            <a:r>
              <a:rPr sz="2000"/>
              <a:t>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1959"/>
                <a:gridCol w="737516"/>
                <a:gridCol w="5346991"/>
                <a:gridCol w="1290653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Operation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Extended Headers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Payload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SEND_FIRST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SEND_MIDDLE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SEND_LAST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SEND_LAST_IMM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ImmDt (4B)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SEND_ONLY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SEND_ONLY_IMM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ImmDt (4B)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RDMA_WRITE_FIRST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RETH (16B)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RDMA_WRITE_MIDDLE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RDMA_WRITE_LAST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RDMA_WRITE_LAST_IMM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ImmDt (4B)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RDMA_WRITE_ONLY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RETH (16B)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RDMA_WRITE_ONLY_IMM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0x0B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RETH (16B) + ImmDt (4B)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RDMA_READ_REQUEST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RETH (16B)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RDMA_READ_RESP_FIRST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AETH (4B)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RDMA_READ_RESP_MIDDLE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RDMA_READ_RESP_LAST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0x0F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AETH (4B)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RDMA_READ_RESP_ONLY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0x10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AETH (4B)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AETH (4B)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Operation Codes and Extended Headers </a:t>
            </a:r>
            <a:r>
              <a:rPr sz="2000"/>
              <a:t>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1959"/>
                <a:gridCol w="737516"/>
                <a:gridCol w="5346991"/>
                <a:gridCol w="1290653"/>
              </a:tblGrid>
              <a:tr h="256032">
                <a:tc>
                  <a:txBody>
                    <a:bodyPr/>
                    <a:lstStyle/>
                    <a:p>
                      <a:r>
                        <a:rPr sz="1400" b="1"/>
                        <a:t>Operation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Extended Headers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Payload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ATOMIC_ACK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AETH (4B) + AtomicAckETH (8B)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CMP_SWAP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0x13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AtomicETH (28B)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ctr"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400"/>
                        <a:t>FETCH_ADD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0x14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AtomicETH (28B)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RETH - RDMA Extended Transport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16-byte header for RDMA READ/WRITE operations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RETH Field Layout (reth.ksy)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4638"/>
                <a:gridCol w="727635"/>
                <a:gridCol w="1001855"/>
                <a:gridCol w="701299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virtual_address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0-7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Remote virtual address for RDMA operation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r_key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8-11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Remote key for memory region authorization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dma_length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12-15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Total bytes to transfer (max 2GB)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RETH Usage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AETH - ACK Extended Transport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4-byte header for acknowledgments and responses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AETH Field Layout (aeth.ksy)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16"/>
                <a:gridCol w="749808"/>
                <a:gridCol w="1124712"/>
                <a:gridCol w="787298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syndrome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 type [6:5] + value [4:0]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msn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1-3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Message Sequence Number being acknowledged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AETH Syndrome Encoding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764254"/>
                <a:gridCol w="727754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Bits [6:5]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 [4:0] Meaning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 count (0-31, 31=unlimited)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RNR NAK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RNR timeout value (encoded)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10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NAK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NAK error code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NAK Error Codes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744"/>
                <a:gridCol w="4748784"/>
                <a:gridCol w="549859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PSN_SEQ_ERROR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PSN sequence error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INVALID_REQUEST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Invalid request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REMOTE_ACCESS_ERROR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Remote access error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REMOTE_OP_ERROR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Remote operation error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INVALID_RD_REQUEST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Invalid RD request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AtomicETH - Atomic Extended Transport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28-byte header for atomic operations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AtomicETH Field Layout </a:t>
            </a:r>
            <a:r>
              <a:rPr sz="2000"/>
              <a:t>(atomiceth.ksy)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876"/>
                <a:gridCol w="724646"/>
                <a:gridCol w="928452"/>
                <a:gridCol w="711814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virtual_address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0-7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Remote address (must be 8-byte aligned)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r_key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8-11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Remote key for memory authorization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swap_or_add_data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12-19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Swap value (CMP_SWAP) or Add value (FETCH_ADD)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compare_data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20-27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Compare value (CMP_SWAP only, 0 for FETCH_ADD)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Atomic Operation Semantics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QP State Machine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Queue Pair lifecycle from qp_state_machine.ksy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QP States </a:t>
            </a:r>
            <a:r>
              <a:rPr sz="2000"/>
              <a:t>(IB Spec Section 10.3)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579"/>
                <a:gridCol w="7368802"/>
                <a:gridCol w="1551326"/>
                <a:gridCol w="135741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State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Send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Receive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Initial state after QP creation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INIT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QP initialized, can post receive WQEs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RTR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Ready To Receive, remote QP configured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Ready To Send, fully operational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Yes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SQD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Send Queue Drained, graceful shutdown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Draining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SQE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Send Queue Error, recoverable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Halted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Yes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ERROR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Fatal error, must reset or destroy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QP State Transitions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 Validity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Operations supported by transport type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Operation Validity by Transport Type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6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2190"/>
                <a:gridCol w="937259"/>
                <a:gridCol w="937259"/>
                <a:gridCol w="937259"/>
                <a:gridCol w="937259"/>
                <a:gridCol w="1405890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Operation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UC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UD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CNP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SEND_FIRST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SEND_MIDDLE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SEND_LAST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SEND_LAST_IMM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SEND_ONLY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SEND_ONLY_IMM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RDMA_WRITE_*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RDMA_READ_*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ATOMIC_ACK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CMP_SWAP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FETCH_ADD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Transport Type Restrictions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Overhead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Total header sizes by operation type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Header Overhead by Operation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087"/>
                <a:gridCol w="722553"/>
                <a:gridCol w="4287786"/>
                <a:gridCol w="779597"/>
                <a:gridCol w="1754094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Operation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BTH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Extended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ICRC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Min Total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SEND_ONLY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SEND_ONLY_IMM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 (ImmDt)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20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RDMA_WRITE_ONLY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 (RETH)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RDMA_WRITE_ONLY_IMM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20 (RETH+ImmDt)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36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RDMA_READ_REQUEST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 (RETH)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RDMA_READ_RESPONSE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 (AETH)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20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 (AETH)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20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CMP_SWAP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28 (AtomicETH)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44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FETCH_ADD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28 (AtomicETH)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44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ATOMIC_ACK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 (AETH+AtomicAckETH)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28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UD SEND_ONLY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 (DETH)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24 bytes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ICRC - Invariant CRC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End-to-end integrity from icrc.ksy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ICRC Parameters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7565"/>
                <a:gridCol w="1785257"/>
                <a:gridCol w="553429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Parameter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Polynomial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0x04C11DB7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CRC-32 (IEEE 802.3)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Polynomial (reflected)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0xEDB88320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 table-driven implementation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Initial 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0xFFFFFFFF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All 1s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Final XOR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0xFFFFFFFF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Inverts result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Seed (RoCEv2)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0xDEBB20E3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Pre-computed for masked LRH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ICRC Coverage and Masking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Datamodel Coverage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Complete RoCE KSY file inventory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RoCE Datamodel Files (9 total)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317"/>
                <a:gridCol w="2847372"/>
                <a:gridCol w="4982901"/>
                <a:gridCol w="213552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Path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IB Spec Section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roce/transport/bth.ksy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Section 9.2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roce/transport/reth.ksy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Section 9.3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roce/transport/aeth.ksy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Section 9.4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roce/transport/deth.ksy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Section 9.5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immdt.ksy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roce/transport/immdt.ksy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Section 9.6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atomiceth.ksy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roce/transport/atomiceth.ksy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Section 9.8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atomicacketh.ksy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roce/transport/atomicacketh.ksy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Section 9.9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icrc.ksy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roce/transport/icrc.ksy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Section 9.7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qp_state_machine.ksy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roce/protocols/qp_state_machine.ksy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Section 10.3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Datamodel Features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Header Formats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Field-level documentation with packet diagrams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RoCEv2 Base Transport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bytes (96 bits)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opcode     |     flags     |             pkey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reserved    |                    dest_qp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|a|  reserved2  |                      psn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roce_bth Packet Layout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roce_bth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935"/>
                <a:gridCol w="730753"/>
                <a:gridCol w="1087289"/>
                <a:gridCol w="730753"/>
                <a:gridCol w="706738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opcode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Operation code (8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flags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Flags byte containing: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pkey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Partition Key (16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 (8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dest_qp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Queue Pair number (24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ack_req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Acknowledge Request (1 bit)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 (7 bits, must be zero)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psn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Packet Sequence Number (24 bits)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RoCEv2 RDMA Extended Transport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16 bytes (128 bits)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virtual_address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virtual_address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 rkey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dma_length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roce_reth Packet Layout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roce_reth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/>
                <a:gridCol w="833120"/>
                <a:gridCol w="1249680"/>
                <a:gridCol w="833120"/>
                <a:gridCol w="520700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virtual_address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Virtual Address (64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rkey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Remote Key (32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dma_length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DMA Length (32 bits)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RoCEv2 ACK Extended Transport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bytes (32 bits)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syndrome    |                      msn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roce_aeth Packet Layout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roce_aeth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095"/>
                <a:gridCol w="709307"/>
                <a:gridCol w="807822"/>
                <a:gridCol w="709307"/>
                <a:gridCol w="794358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syndrome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Syndrome field (8 bits) - per IB Spec Vol 1, v1.4, Table 46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msn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Message Sequence Number (24 bits)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RoCEv2 Datagram Extended Transport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bytes (64 bits)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 qkey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reserved    |                    src_qp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roce_deth Packet Layout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roce_deth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033"/>
                <a:gridCol w="762516"/>
                <a:gridCol w="1143774"/>
                <a:gridCol w="762516"/>
                <a:gridCol w="705327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qkey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Queue Key (32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field (8 bits, must be zero)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src_qp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Queue Pair number (24 bits)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RoCEv2 Atomic Extended Transport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28 bytes (224 bits)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virtual_address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virtual_address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 rkey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swap_or_add_data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swap_or_add_data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compare_data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compare_data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roce_atomiceth Packet Layout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roce_atomiceth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1889"/>
                <a:gridCol w="817972"/>
                <a:gridCol w="1226958"/>
                <a:gridCol w="817972"/>
                <a:gridCol w="511232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virtual_address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Virtual Address (64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rkey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Remote Key (32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swap_or_add_data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Swap/Add Data (64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compare_data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Compare Data (64 bits)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RoCEv2 Immediate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bytes (32 bits)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immediate_data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roce_immdt Packet Layout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roce_immdt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822"/>
                <a:gridCol w="775663"/>
                <a:gridCol w="1163495"/>
                <a:gridCol w="775663"/>
                <a:gridCol w="581747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immediate_data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Immediate Data value (32 bits)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Specification and Documentation Sources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References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Documentation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" action="ppaction://hlinksldjump"/>
              </a:rPr>
              <a:t>RoCEv2 Overview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3" action="ppaction://hlinksldjump"/>
              </a:rPr>
              <a:t>RoCEv2 Packet Variants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4" action="ppaction://hlinksldjump"/>
              </a:rPr>
              <a:t>Header Overhead Summary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5" action="ppaction://hlinksldjump"/>
              </a:rPr>
              <a:t>Protocol Architecture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6" action="ppaction://hlinksldjump"/>
              </a:rPr>
              <a:t>Header Building Blocks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7" action="ppaction://hlinksldjump"/>
              </a:rPr>
              <a:t>Base Transport Header (BTH)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8" action="ppaction://hlinksldjump"/>
              </a:rPr>
              <a:t>Packet Variant Matrix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9" action="ppaction://hlinksldjump"/>
              </a:rPr>
              <a:t>RETH - RDMA Extended Transport Header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0" action="ppaction://hlinksldjump"/>
              </a:rPr>
              <a:t>AETH - ACK Extended Transport Header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1" action="ppaction://hlinksldjump"/>
              </a:rPr>
              <a:t>AtomicETH - Atomic Extended Transport Header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2" action="ppaction://hlinksldjump"/>
              </a:rPr>
              <a:t>QP State Machine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3" action="ppaction://hlinksldjump"/>
              </a:rPr>
              <a:t>Operation Validity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4" action="ppaction://hlinksldjump"/>
              </a:rPr>
              <a:t>Header Overhead Summary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5" action="ppaction://hlinksldjump"/>
              </a:rPr>
              <a:t>ICRC - Invariant CRC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6" action="ppaction://hlinksldjump"/>
              </a:rPr>
              <a:t>Datamodel Coverage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7" action="ppaction://hlinksldjump"/>
              </a:rPr>
              <a:t>Detailed Header Formats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8" action="ppaction://hlinksldjump"/>
              </a:rPr>
              <a:t>RoCEv2 Base Transport Header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9" action="ppaction://hlinksldjump"/>
              </a:rPr>
              <a:t>RoCEv2 RDMA Extended Transport Header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0" action="ppaction://hlinksldjump"/>
              </a:rPr>
              <a:t>RoCEv2 ACK Extended Transport Header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1" action="ppaction://hlinksldjump"/>
              </a:rPr>
              <a:t>RoCEv2 Datagram Extended Transport Header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2" action="ppaction://hlinksldjump"/>
              </a:rPr>
              <a:t>RoCEv2 Atomic Extended Transport Header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3" action="ppaction://hlinksldjump"/>
              </a:rPr>
              <a:t>RoCEv2 Immediate Data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4" action="ppaction://hlinksldjump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New Cornelis Brand">
      <a:dk1>
        <a:srgbClr val="6400B9"/>
      </a:dk1>
      <a:lt1>
        <a:srgbClr val="FFFFFF"/>
      </a:lt1>
      <a:dk2>
        <a:srgbClr val="3D0070"/>
      </a:dk2>
      <a:lt2>
        <a:srgbClr val="991DFF"/>
      </a:lt2>
      <a:accent1>
        <a:srgbClr val="8B00FE"/>
      </a:accent1>
      <a:accent2>
        <a:srgbClr val="991DFF"/>
      </a:accent2>
      <a:accent3>
        <a:srgbClr val="AD53FD"/>
      </a:accent3>
      <a:accent4>
        <a:srgbClr val="35343C"/>
      </a:accent4>
      <a:accent5>
        <a:srgbClr val="4C4B57"/>
      </a:accent5>
      <a:accent6>
        <a:srgbClr val="9D9CAA"/>
      </a:accent6>
      <a:hlink>
        <a:srgbClr val="8B00FE"/>
      </a:hlink>
      <a:folHlink>
        <a:srgbClr val="6400B9"/>
      </a:folHlink>
    </a:clrScheme>
    <a:fontScheme name="Custom 2">
      <a:majorFont>
        <a:latin typeface="Saira Expanded SemiBold"/>
        <a:ea typeface=""/>
        <a:cs typeface=""/>
      </a:majorFont>
      <a:minorFont>
        <a:latin typeface="Saira"/>
        <a:ea typeface=""/>
        <a:cs typeface=""/>
      </a:minorFont>
    </a:fontScheme>
    <a:fmtScheme name="Inset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E02F04B8-C54B-480F-8EF5-E7029B480F57}" vid="{6988A6CD-D722-4DA6-AF03-B111BAEE2D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Description xmlns="http://schemas.microsoft.com/sharepoint.v3" xsi:nil="true"/>
    <lcf76f155ced4ddcb4097134ff3c332f xmlns="abc4e0d4-2e11-4d2b-931d-cb9fc30c6685">
      <Terms xmlns="http://schemas.microsoft.com/office/infopath/2007/PartnerControls"/>
    </lcf76f155ced4ddcb4097134ff3c332f>
    <PublishingExpirationDate xmlns="http://schemas.microsoft.com/sharepoint/v3" xsi:nil="true"/>
    <PublishingStartDate xmlns="http://schemas.microsoft.com/sharepoint/v3" xsi:nil="true"/>
    <TaxCatchAll xmlns="b49ca187-4f68-45e7-8077-dcf9b25b728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653227EFA3D144B4F9B06F007145E3" ma:contentTypeVersion="48" ma:contentTypeDescription="Create a new document." ma:contentTypeScope="" ma:versionID="be0164df2a005fa2d390aab7505fd57f">
  <xsd:schema xmlns:xsd="http://www.w3.org/2001/XMLSchema" xmlns:xs="http://www.w3.org/2001/XMLSchema" xmlns:p="http://schemas.microsoft.com/office/2006/metadata/properties" xmlns:ns1="http://schemas.microsoft.com/sharepoint/v3" xmlns:ns2="b49ca187-4f68-45e7-8077-dcf9b25b7285" xmlns:ns3="abc4e0d4-2e11-4d2b-931d-cb9fc30c6685" xmlns:ns4="http://schemas.microsoft.com/sharepoint.v3" targetNamespace="http://schemas.microsoft.com/office/2006/metadata/properties" ma:root="true" ma:fieldsID="de4414065ad7fea119e785c8e6a86210" ns1:_="" ns2:_="" ns3:_="" ns4:_="">
    <xsd:import namespace="http://schemas.microsoft.com/sharepoint/v3"/>
    <xsd:import namespace="b49ca187-4f68-45e7-8077-dcf9b25b7285"/>
    <xsd:import namespace="abc4e0d4-2e11-4d2b-931d-cb9fc30c6685"/>
    <xsd:import namespace="http://schemas.microsoft.com/sharepoint.v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  <xsd:element ref="ns2:TaxCatchAll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lcf76f155ced4ddcb4097134ff3c332f" minOccurs="0"/>
                <xsd:element ref="ns3:MediaServiceSearchProperties" minOccurs="0"/>
                <xsd:element ref="ns3:MediaLengthInSeconds" minOccurs="0"/>
                <xsd:element ref="ns4:Category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ca187-4f68-45e7-8077-dcf9b25b728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3" nillable="true" ma:displayName="Taxonomy Catch All Column" ma:description="" ma:hidden="true" ma:list="{3094f560-c313-4005-8af5-6c328bc05426}" ma:internalName="TaxCatchAll" ma:showField="CatchAllData" ma:web="b49ca187-4f68-45e7-8077-dcf9b25b72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4e0d4-2e11-4d2b-931d-cb9fc30c6685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4451702-ee48-4fb3-a7d0-1fc691b540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.v3" elementFormDefault="qualified">
    <xsd:import namespace="http://schemas.microsoft.com/office/2006/documentManagement/types"/>
    <xsd:import namespace="http://schemas.microsoft.com/office/infopath/2007/PartnerControls"/>
    <xsd:element name="CategoryDescription" ma:index="21" nillable="true" ma:displayName="Description" ma:internalName="CategoryDescription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F5674D-189E-4E26-AFF9-F8FA6DBD4AA8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C9DE1FF4-E276-452C-ACA1-58825830DA33}">
  <ds:schemaRefs>
    <ds:schemaRef ds:uri="http://schemas.microsoft.com/office/2006/metadata/properties"/>
    <ds:schemaRef ds:uri="http://schemas.microsoft.com/sharepoint.v3"/>
    <ds:schemaRef ds:uri="http://purl.org/dc/dcmitype/"/>
    <ds:schemaRef ds:uri="http://schemas.microsoft.com/office/infopath/2007/PartnerControls"/>
    <ds:schemaRef ds:uri="http://purl.org/dc/terms/"/>
    <ds:schemaRef ds:uri="http://schemas.microsoft.com/sharepoint/v3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abc4e0d4-2e11-4d2b-931d-cb9fc30c6685"/>
    <ds:schemaRef ds:uri="b49ca187-4f68-45e7-8077-dcf9b25b728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270A200-2018-40F2-ACF4-1EDCA097A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49ca187-4f68-45e7-8077-dcf9b25b7285"/>
    <ds:schemaRef ds:uri="abc4e0d4-2e11-4d2b-931d-cb9fc30c6685"/>
    <ds:schemaRef ds:uri="http://schemas.microsoft.com/sharepoint.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917AFFD-C253-4487-B83A-AAD30D5C05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Aptos Black</vt:lpstr>
      <vt:lpstr>Arial</vt:lpstr>
      <vt:lpstr>Arial Narrow</vt:lpstr>
      <vt:lpstr>Calibri</vt:lpstr>
      <vt:lpstr>Poppins</vt:lpstr>
      <vt:lpstr>Poppins Medium</vt:lpstr>
      <vt:lpstr>Saira</vt:lpstr>
      <vt:lpstr>Saira Expanded SemiBold</vt:lpstr>
      <vt:lpstr>Symbol</vt:lpstr>
      <vt:lpstr>5_Office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Atkins, Mark</dc:creator>
  <cp:lastModifiedBy>Atkins, Mark</cp:lastModifiedBy>
  <cp:revision>1</cp:revision>
  <dcterms:created xsi:type="dcterms:W3CDTF">2026-02-04T15:59:49Z</dcterms:created>
  <dcterms:modified xsi:type="dcterms:W3CDTF">2026-02-04T16:03:27Z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0x010100C8653227EFA3D144B4F9B06F007145E3</vt:lpwstr>
  </property>
  <property fmtid="{D5CDD505-2E9C-101B-9397-08002B2CF9AE}" pid="3" name="MediaServiceImageTags">
    <vt:lpwstr/>
  </property>
  <property fmtid="{D5CDD505-2E9C-101B-9397-08002B2CF9AE}" pid="4" name="b5c8439c0f5046928b7a6c406acb4c25">
    <vt:lpwstr/>
  </property>
  <property fmtid="{D5CDD505-2E9C-101B-9397-08002B2CF9AE}" pid="5" name="RefLibPTIDepartmentName">
    <vt:lpwstr/>
  </property>
  <property fmtid="{D5CDD505-2E9C-101B-9397-08002B2CF9AE}" pid="6" name="db0e9dfb34a048389a6f815dbdf60112">
    <vt:lpwstr/>
  </property>
  <property fmtid="{D5CDD505-2E9C-101B-9397-08002B2CF9AE}" pid="7" name="o6c0f2e36b054cee9d63e58c076b3545">
    <vt:lpwstr/>
  </property>
  <property fmtid="{D5CDD505-2E9C-101B-9397-08002B2CF9AE}" pid="8" name="RefLibPTIContentType">
    <vt:lpwstr/>
  </property>
  <property fmtid="{D5CDD505-2E9C-101B-9397-08002B2CF9AE}" pid="9" name="RefLibPTIPPCName">
    <vt:lpwstr/>
  </property>
</Properties>
</file>