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5"/>
  </p:sldMasterIdLst>
  <p:notesMasterIdLst>
    <p:notesMasterId r:id="rId6"/>
  </p:notesMasterIdLst>
  <p:sldIdLst>
    <p:sldId id="256" r:id="rId12"/>
    <p:sldId id="331" r:id="rId87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11"/>
    <p:sldId id="320" r:id="rId10"/>
    <p:sldId id="321" r:id="rId9"/>
    <p:sldId id="322" r:id="rId8"/>
    <p:sldId id="323" r:id="rId7"/>
    <p:sldId id="324" r:id="rId80"/>
    <p:sldId id="325" r:id="rId81"/>
    <p:sldId id="326" r:id="rId82"/>
    <p:sldId id="327" r:id="rId83"/>
    <p:sldId id="328" r:id="rId84"/>
    <p:sldId id="329" r:id="rId85"/>
    <p:sldId id="330" r:id="rId86"/>
  </p:sldIdLst>
  <p:sectionLst>
    <p:section name="Overview" id="{444ABE6E-9375-4E34-9B9D-A065ABA4096F}">
      <p:sldIdLst>
        <p:sldId id="257"/>
      </p:sldIdLst>
    </p:section>
    <p:section name="Protocol Architecture" id="{1F57D3EC-B5CE-47B0-B225-580F70A3FFB8}">
      <p:sldIdLst>
        <p:sldId id="261"/>
      </p:sldIdLst>
    </p:section>
    <p:section name="UPLI Layer" id="{F1DEDF95-0A41-40F7-B639-9C9ED6AA1974}">
      <p:sldIdLst>
        <p:sldId id="264"/>
      </p:sldIdLst>
    </p:section>
    <p:section name="Transaction Layer" id="{F268EBB0-3E00-4CE9-8742-BE2C4FDAE484}">
      <p:sldIdLst>
        <p:sldId id="267"/>
      </p:sldIdLst>
    </p:section>
    <p:section name="Data Link Layer" id="{38EEDE22-E2A5-445F-BEC3-85766630A102}">
      <p:sldIdLst>
        <p:sldId id="271"/>
      </p:sldIdLst>
    </p:section>
    <p:section name="Physical Layer" id="{FD38503A-6201-496E-A477-9D03A9C55CBF}">
      <p:sldIdLst>
        <p:sldId id="276"/>
      </p:sldIdLst>
    </p:section>
    <p:section name="Security Layer" id="{F699D6D4-DF4C-4959-B5BE-E5ADDBB857A3}">
      <p:sldIdLst>
        <p:sldId id="279"/>
      </p:sldIdLst>
    </p:section>
    <p:section name="Protocol State Machines" id="{0C9BE0DE-D76A-4C18-B9E9-6F92B595A7F4}">
      <p:sldIdLst>
        <p:sldId id="283"/>
      </p:sldIdLst>
    </p:section>
    <p:section name="Packet Variant Matrix" id="{E7C2AB3B-0608-4EB0-A790-982AE4FF7E33}">
      <p:sldIdLst>
        <p:sldId id="285"/>
      </p:sldIdLst>
    </p:section>
    <p:section name="Detailed Packet Structures" id="{7D2F7655-CAF2-4BC8-B6EA-D0906FF6EF0A}">
      <p:sldIdLst>
        <p:sldId id="289"/>
      </p:sldIdLst>
    </p:section>
    <p:section name="Header Overhead Summary" id="{11D2AD3F-5127-4AEC-96D8-DF1014E8168C}">
      <p:sldIdLst>
        <p:sldId id="293"/>
      </p:sldIdLst>
    </p:section>
    <p:section name="Datamodel Coverage" id="{92BCF3C9-C5CE-4002-BA63-71CC6DA59EAC}">
      <p:sldIdLst>
        <p:sldId id="296"/>
      </p:sldIdLst>
    </p:section>
    <p:section name="Detailed Header Formats" id="{3F9734ED-D8C4-490A-9D50-80333A854052}">
      <p:sldIdLst>
        <p:sldId id="302"/>
      </p:sldIdLst>
    </p:section>
    <p:section name="UALink DL Flit Header" id="{6BA1D66D-9EC5-498A-8571-320C128F88D6}">
      <p:sldIdLst>
        <p:sldId id="303"/>
      </p:sldIdLst>
    </p:section>
    <p:section name="UALink Data Link Layer Flit" id="{BDA329EC-7B62-459A-9103-0607B36C41CE}">
      <p:sldIdLst>
        <p:sldId id="306"/>
      </p:sldIdLst>
    </p:section>
    <p:section name="UALink DL Segment Header" id="{7493729A-4C71-4ECC-A9AB-1DFC68C6CD8A}">
      <p:sldIdLst>
        <p:sldId id="309"/>
      </p:sldIdLst>
    </p:section>
    <p:section name="UALink Transaction Layer Flit" id="{54E79F35-9173-4A84-B20E-09DAAD3E5C1A}">
      <p:sldIdLst>
        <p:sldId id="312"/>
      </p:sldIdLst>
    </p:section>
    <p:section name="UALink Message Half-Flit" id="{C13C0285-66BA-40B7-B8C5-B41C5F5576B7}">
      <p:sldIdLst>
        <p:sldId id="315"/>
      </p:sldIdLst>
    </p:section>
    <p:section name="UALink Data Half-Flit" id="{C9B18E86-B16D-4FCE-A2DA-626E04A1229B}">
      <p:sldIdLst>
        <p:sldId id="318"/>
      </p:sldIdLst>
    </p:section>
    <p:section name="UALink Control Half-Flit" id="{2F063AEB-2B4B-4776-ADEA-5BEDA96DF5D5}">
      <p:sldIdLst>
        <p:sldId id="321"/>
      </p:sldIdLst>
    </p:section>
    <p:section name="UALink Flow Control Field" id="{2455067A-3279-4A75-9BEE-CEEC74C61002}">
      <p:sldIdLst>
        <p:sldId id="324"/>
      </p:sldIdLst>
    </p:section>
    <p:section name="References" id="{3D09DC2C-75C4-4E23-90D4-C10EDA5DA75D}">
      <p:sldIdLst>
        <p:sldId id="327"/>
      </p:sldIdLst>
    </p:section>
  </p:section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xDH5FARZnmGpYYgqGTRyKNkJ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A3A"/>
    <a:srgbClr val="AD53FD"/>
    <a:srgbClr val="3D0070"/>
    <a:srgbClr val="6400B9"/>
    <a:srgbClr val="8B00FE"/>
    <a:srgbClr val="000000"/>
    <a:srgbClr val="E5484D"/>
    <a:srgbClr val="D43DFD"/>
    <a:srgbClr val="12B76A"/>
    <a:srgbClr val="000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90" d="100"/>
          <a:sy n="90" d="100"/>
        </p:scale>
        <p:origin x="588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68.xml"/><Relationship Id="rId8" Type="http://schemas.openxmlformats.org/officeDocument/2006/relationships/slide" Target="slides/slide67.xml"/><Relationship Id="rId9" Type="http://schemas.openxmlformats.org/officeDocument/2006/relationships/slide" Target="slides/slide66.xml"/><Relationship Id="rId10" Type="http://schemas.openxmlformats.org/officeDocument/2006/relationships/slide" Target="slides/slide65.xml"/><Relationship Id="rId11" Type="http://schemas.openxmlformats.org/officeDocument/2006/relationships/slide" Target="slides/slide6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customschemas.google.com/relationships/presentationmetadata" Target="meta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57" y="3948803"/>
            <a:ext cx="9112295" cy="313163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220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304792" marR="0" lvl="0" indent="-304792" algn="l" defTabSz="914377" rtl="0" eaLnBrk="1" fontAlgn="auto" latinLnBrk="0" hangingPunct="1">
              <a:lnSpc>
                <a:spcPct val="90000"/>
              </a:lnSpc>
              <a:spcBef>
                <a:spcPts val="2667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3674" y="2437396"/>
            <a:ext cx="9112294" cy="14784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4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58" y="4987395"/>
            <a:ext cx="5120643" cy="32008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5358" y="5271645"/>
            <a:ext cx="5120643" cy="248914"/>
          </a:xfrm>
        </p:spPr>
        <p:txBody>
          <a:bodyPr wrap="square">
            <a:spAutoFit/>
          </a:bodyPr>
          <a:lstStyle>
            <a:lvl1pPr marL="0" indent="0" algn="l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5357" y="4695684"/>
            <a:ext cx="5120643" cy="263149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8" y="525004"/>
            <a:ext cx="4741164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4836"/>
            <a:ext cx="12192000" cy="5912420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70" y="267246"/>
            <a:ext cx="4741164" cy="1113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 userDrawn="1"/>
        </p:nvSpPr>
        <p:spPr>
          <a:xfrm>
            <a:off x="-18853" y="18658"/>
            <a:ext cx="12192000" cy="6839342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84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32"/>
            <a:ext cx="12363089" cy="6865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71" y="267246"/>
            <a:ext cx="4741162" cy="1113086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0908" y="4990380"/>
            <a:ext cx="5120643" cy="320088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0908" y="5274630"/>
            <a:ext cx="5120643" cy="248914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1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9255" y="2128409"/>
            <a:ext cx="9112293" cy="172417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54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0907" y="4698669"/>
            <a:ext cx="5120643" cy="263149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79255" y="3970780"/>
            <a:ext cx="9112293" cy="415077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278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Cover B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901917"/>
            <a:ext cx="12192000" cy="59560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97642" y="4654332"/>
            <a:ext cx="9112295" cy="43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97643" y="5731853"/>
            <a:ext cx="5120643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97643" y="6016103"/>
            <a:ext cx="5120643" cy="372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84425" y="2897379"/>
            <a:ext cx="9112293" cy="172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540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97642" y="5440142"/>
            <a:ext cx="5120643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" y="323230"/>
            <a:ext cx="4741162" cy="11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7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Blank with logo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13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 userDrawn="1">
  <p:cSld name="1_Title 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DC221-ECA4-C855-89A6-27A713E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A8D2FC7B-FD75-9151-D953-0B8E32E9D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4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1522497-B421-1DC0-7E36-7571DBE4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8593E28C-D816-D562-4029-9FA87B3EA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0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320" y="1167898"/>
            <a:ext cx="11209360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856234"/>
            <a:ext cx="11209360" cy="432477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173705"/>
            <a:ext cx="12192000" cy="3684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16" y="1584960"/>
            <a:ext cx="11299064" cy="4621876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8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3799002"/>
            <a:ext cx="12192000" cy="34125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1549392"/>
            <a:ext cx="11299064" cy="4611263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Title and 3 Claim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89748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03954" y="4169260"/>
            <a:ext cx="2098052" cy="811988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451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9846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4052" y="4169260"/>
            <a:ext cx="2098052" cy="8119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27549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675200" y="2272154"/>
            <a:ext cx="2331720" cy="217484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89406" y="4169260"/>
            <a:ext cx="2098052" cy="811988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22903" y="5138602"/>
            <a:ext cx="1231058" cy="914400"/>
          </a:xfrm>
        </p:spPr>
        <p:txBody>
          <a:bodyPr>
            <a:normAutofit/>
          </a:bodyPr>
          <a:lstStyle>
            <a:lvl1pPr algn="ctr"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4053" y="1584960"/>
            <a:ext cx="5426880" cy="4557222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991" y="469209"/>
            <a:ext cx="5113613" cy="631992"/>
          </a:xfrm>
        </p:spPr>
        <p:txBody>
          <a:bodyPr>
            <a:noAutofit/>
          </a:bodyPr>
          <a:lstStyle>
            <a:lvl1pPr>
              <a:defRPr sz="44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113613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7067" y="469208"/>
            <a:ext cx="5113867" cy="626325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44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2400" dirty="0" smtClean="0"/>
            </a:lvl2pPr>
            <a:lvl3pPr>
              <a:defRPr lang="en-US" sz="2400" dirty="0" smtClean="0"/>
            </a:lvl3pPr>
            <a:lvl4pPr>
              <a:defRPr lang="en-US" sz="2400" dirty="0" smtClean="0"/>
            </a:lvl4pPr>
            <a:lvl5pPr>
              <a:defRPr lang="en-US" sz="2400" dirty="0"/>
            </a:lvl5pPr>
          </a:lstStyle>
          <a:p>
            <a:pPr marL="152396" lvl="0" indent="-457189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587069" y="1584960"/>
            <a:ext cx="5113611" cy="4636936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51" y="1706151"/>
            <a:ext cx="537474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8851" y="628650"/>
            <a:ext cx="3554095" cy="261867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>
                <a:solidFill>
                  <a:schemeClr val="tx2"/>
                </a:solidFill>
              </a:defRPr>
            </a:lvl2pPr>
            <a:lvl3pPr marL="914400" indent="0">
              <a:buNone/>
              <a:defRPr sz="1200">
                <a:solidFill>
                  <a:schemeClr val="tx2"/>
                </a:solidFill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393" y="3227610"/>
            <a:ext cx="4769277" cy="215592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8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0"/>
            <a:ext cx="7254240" cy="68580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89" y="1675492"/>
            <a:ext cx="4097972" cy="1660604"/>
          </a:xfrm>
        </p:spPr>
        <p:txBody>
          <a:bodyPr>
            <a:noAutofit/>
          </a:bodyPr>
          <a:lstStyle>
            <a:lvl1pPr>
              <a:defRPr sz="420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90" y="3572715"/>
            <a:ext cx="4097972" cy="23177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914400" indent="0">
              <a:buNone/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3716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82880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9489" y="1099426"/>
            <a:ext cx="3055373" cy="37995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89" y="217054"/>
            <a:ext cx="2048766" cy="48099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22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50935" y="1514592"/>
            <a:ext cx="73509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50936" y="2346036"/>
            <a:ext cx="7350930" cy="3903947"/>
          </a:xfrm>
        </p:spPr>
        <p:txBody>
          <a:bodyPr numCol="2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400B9"/>
              </a:buClr>
              <a:buSzPct val="100000"/>
              <a:buFont typeface="+mj-lt"/>
              <a:buNone/>
              <a:defRPr lang="en-US" sz="24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+mj-lt"/>
              <a:buNone/>
              <a:defRPr lang="en-US" sz="20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981449" cy="6858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0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2982" y="487681"/>
            <a:ext cx="68285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2982" y="1130725"/>
            <a:ext cx="68285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2982" y="1584960"/>
            <a:ext cx="6828581" cy="4575695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40063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5166479"/>
            <a:ext cx="11209360" cy="100987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10515600" cy="1009878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6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03" y="610733"/>
            <a:ext cx="440063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04" y="1549392"/>
            <a:ext cx="44006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9870" y="3691"/>
            <a:ext cx="715036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2" y="487681"/>
            <a:ext cx="735093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051" y="1117949"/>
            <a:ext cx="735093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735093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0552" y="0"/>
            <a:ext cx="3981449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746" y="487681"/>
            <a:ext cx="5430181" cy="531428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746" y="1163449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36" y="1584960"/>
            <a:ext cx="5430181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1684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8273" y="487681"/>
            <a:ext cx="5430181" cy="53142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8273" y="1176262"/>
            <a:ext cx="5430181" cy="349776"/>
          </a:xfrm>
        </p:spPr>
        <p:txBody>
          <a:bodyPr wrap="square" tIns="0">
            <a:spAutoFit/>
          </a:bodyPr>
          <a:lstStyle>
            <a:lvl1pPr marL="0" indent="0">
              <a:buNone/>
              <a:defRPr sz="2133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273" y="1584960"/>
            <a:ext cx="5430181" cy="4658822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9182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5426880" cy="478536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0987" y="895738"/>
            <a:ext cx="6359847" cy="5066523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259398"/>
            <a:ext cx="5516584" cy="100987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 userDrawn="1"/>
        </p:nvSpPr>
        <p:spPr>
          <a:xfrm>
            <a:off x="5834270" y="4012189"/>
            <a:ext cx="3668960" cy="1133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36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82543"/>
            <a:ext cx="5181600" cy="4351338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9583" y="1682543"/>
            <a:ext cx="5075582" cy="4351338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138" y="1595438"/>
            <a:ext cx="10515394" cy="169085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000">
                <a:solidFill>
                  <a:schemeClr val="accent5"/>
                </a:solidFill>
              </a:defRPr>
            </a:lvl2pPr>
            <a:lvl3pPr>
              <a:defRPr sz="1800">
                <a:solidFill>
                  <a:schemeClr val="accent5"/>
                </a:solidFill>
              </a:defRPr>
            </a:lvl3pPr>
            <a:lvl4pPr>
              <a:defRPr sz="16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8932" y="3571703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9447" y="3590360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94" y="3599688"/>
            <a:ext cx="3374569" cy="2278589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2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2" y="217880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372131" y="2178800"/>
            <a:ext cx="5265688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4182" y="4466250"/>
            <a:ext cx="526472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6374052" y="4466250"/>
            <a:ext cx="5263767" cy="1694329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85750" indent="-28575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Char char="•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004889" indent="0">
              <a:lnSpc>
                <a:spcPct val="100000"/>
              </a:lnSpc>
              <a:spcBef>
                <a:spcPts val="137"/>
              </a:spcBef>
              <a:buFont typeface="Arial" panose="020B0604020202020204" pitchFamily="34" charset="0"/>
              <a:buNone/>
              <a:defRPr sz="1236">
                <a:solidFill>
                  <a:schemeClr val="accent5"/>
                </a:solidFill>
              </a:defRPr>
            </a:lvl6pPr>
            <a:lvl7pPr marL="2743200" indent="0">
              <a:lnSpc>
                <a:spcPct val="100000"/>
              </a:lnSpc>
              <a:spcBef>
                <a:spcPts val="137"/>
              </a:spcBef>
              <a:buNone/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6096001" y="-453643"/>
            <a:ext cx="5541818" cy="161365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554182" y="-453643"/>
            <a:ext cx="9310255" cy="161365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lang="en-US" sz="1099" b="0" i="0" kern="1200" cap="all" spc="275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2" y="191475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372131" y="1914754"/>
            <a:ext cx="5265688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554181" y="4202204"/>
            <a:ext cx="526472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6374052" y="4202204"/>
            <a:ext cx="5263767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5966529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554183" y="2178800"/>
            <a:ext cx="3325091" cy="1694329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4433455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8312727" y="2178800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554183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4433455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8312727" y="4420062"/>
            <a:ext cx="3325091" cy="1694329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37"/>
              </a:spcBef>
              <a:buNone/>
              <a:defRPr sz="1236">
                <a:solidFill>
                  <a:schemeClr val="accent5"/>
                </a:solidFill>
                <a:latin typeface="+mn-lt"/>
              </a:defRPr>
            </a:lvl1pPr>
            <a:lvl2pPr marL="251222" indent="-251222">
              <a:lnSpc>
                <a:spcPct val="100000"/>
              </a:lnSpc>
              <a:spcBef>
                <a:spcPts val="137"/>
              </a:spcBef>
              <a:buFont typeface="Symbol" panose="05050102010706020507" pitchFamily="18" charset="2"/>
              <a:buChar char=""/>
              <a:defRPr sz="1236">
                <a:solidFill>
                  <a:schemeClr val="accent5"/>
                </a:solidFill>
              </a:defRPr>
            </a:lvl2pPr>
            <a:lvl3pPr marL="502445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3pPr>
            <a:lvl4pPr marL="753667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4pPr>
            <a:lvl5pPr marL="1004889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5pPr>
            <a:lvl6pPr marL="1256111" indent="-251222">
              <a:lnSpc>
                <a:spcPct val="100000"/>
              </a:lnSpc>
              <a:spcBef>
                <a:spcPts val="137"/>
              </a:spcBef>
              <a:defRPr sz="1236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37"/>
              </a:spcBef>
              <a:defRPr sz="1236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183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4433455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8312727" y="1914754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554183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4433455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8312727" y="4156016"/>
            <a:ext cx="3325091" cy="264047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3768334" algn="r"/>
              </a:tabLst>
              <a:defRPr kumimoji="0" lang="en-US" sz="1236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228600" marR="0" lvl="0" indent="-228600" algn="l" defTabSz="13171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5770261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4181" y="1170105"/>
            <a:ext cx="11083636" cy="2739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2133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16500" indent="-314028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48" y="4991068"/>
            <a:ext cx="5491073" cy="1239338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78252" y="4997817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1999" cy="47322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1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96" y="225105"/>
            <a:ext cx="5491073" cy="12393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31854"/>
            <a:ext cx="4939645" cy="123933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0" y="1847274"/>
            <a:ext cx="12191999" cy="432261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9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1" y="1143338"/>
            <a:ext cx="11214099" cy="4576527"/>
          </a:xfrm>
        </p:spPr>
        <p:txBody>
          <a:bodyPr anchor="ctr">
            <a:normAutofit/>
          </a:bodyPr>
          <a:lstStyle>
            <a:lvl1pPr algn="ctr">
              <a:defRPr sz="88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89884" cy="6858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C1CF-4083-E7EF-00EE-FF1A99AF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9F30E-CF9C-0B05-3435-5A43F90D2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51709"/>
            <a:ext cx="5181600" cy="4625254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 marL="20574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C373EE-DD46-DF07-7F2D-ED1E3422F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3964" y="6360816"/>
            <a:ext cx="1713225" cy="428862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11A81E7F-D137-AC94-D1F7-73F6257B7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82B70A4-F12F-5DE4-A79E-31E54B710E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0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57200" y="1213605"/>
            <a:ext cx="5752410" cy="147417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57200" y="2939110"/>
            <a:ext cx="5527964" cy="133438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66629" y="1415834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657694"/>
            <a:ext cx="5527964" cy="45864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4375" y="942248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684" y="226424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12772" y="947092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9241" y="2273481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9472" y="3855441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42124" y="5191045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29393" y="3833665"/>
            <a:ext cx="2338648" cy="458646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2368" y="5161164"/>
            <a:ext cx="2338648" cy="84707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26876" y="1439042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71458" y="4314087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4378" y="4343968"/>
            <a:ext cx="2514140" cy="847077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540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4572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60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98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22502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00" y="6366607"/>
            <a:ext cx="1713225" cy="428862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2502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22502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192743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62984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33225" y="2162030"/>
            <a:ext cx="2743200" cy="27432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92743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92743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62984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62984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33225" y="5044819"/>
            <a:ext cx="2743200" cy="469290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33225" y="5531861"/>
            <a:ext cx="2735816" cy="458646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1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609630" rtl="0" eaLnBrk="1" fontAlgn="auto" latinLnBrk="0" hangingPunct="1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74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3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 userDrawn="1"/>
        </p:nvSpPr>
        <p:spPr>
          <a:xfrm>
            <a:off x="914401" y="2255038"/>
            <a:ext cx="676656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1" y="2627382"/>
            <a:ext cx="6656044" cy="1719247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 userDrawn="1"/>
        </p:nvGrpSpPr>
        <p:grpSpPr>
          <a:xfrm flipV="1">
            <a:off x="626909" y="4939722"/>
            <a:ext cx="7250126" cy="764786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5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 userDrawn="1"/>
        </p:nvSpPr>
        <p:spPr>
          <a:xfrm>
            <a:off x="1346390" y="5054911"/>
            <a:ext cx="1737278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 userDrawn="1"/>
        </p:nvSpPr>
        <p:spPr>
          <a:xfrm>
            <a:off x="3820898" y="5054911"/>
            <a:ext cx="2716331" cy="25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0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2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1252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1" y="4988397"/>
            <a:ext cx="365760" cy="36576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4719" y="4988397"/>
            <a:ext cx="365760" cy="36576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3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1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265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 userDrawn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862140" y="2431694"/>
            <a:ext cx="10775678" cy="313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540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24" y="545661"/>
            <a:ext cx="6323648" cy="1485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 userDrawn="1"/>
        </p:nvSpPr>
        <p:spPr>
          <a:xfrm>
            <a:off x="101600" y="6478593"/>
            <a:ext cx="2733964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11320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20" y="1584960"/>
            <a:ext cx="11209360" cy="46034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16" y="390997"/>
            <a:ext cx="11299064" cy="758429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055" y="6325516"/>
            <a:ext cx="2048766" cy="48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1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3635" y="6654800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ornelis Networks  </a:t>
            </a:r>
            <a:r>
              <a:rPr lang="en-US" sz="900" kern="1200" dirty="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rPr>
              <a:t> | </a:t>
            </a:r>
            <a:r>
              <a:rPr lang="en-US" sz="90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 Confidential  </a:t>
            </a:r>
            <a:endParaRPr lang="en-US" sz="900" kern="1200" dirty="0">
              <a:solidFill>
                <a:schemeClr val="tx1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00584" y="6656832"/>
            <a:ext cx="5848351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lang="en-US" sz="900" kern="1200" smtClean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kern="1200" dirty="0">
                <a:solidFill>
                  <a:schemeClr val="accent5"/>
                </a:solidFill>
                <a:latin typeface="Poppins" pitchFamily="2" charset="77"/>
                <a:ea typeface="+mn-ea"/>
                <a:cs typeface="Poppins" pitchFamily="2" charset="77"/>
              </a:rPr>
              <a:t>  |  C</a:t>
            </a:r>
            <a:r>
              <a:rPr lang="en-US" sz="900" dirty="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ornelis Networks | Confidential</a:t>
            </a:r>
            <a:endParaRPr lang="en-US" sz="900" kern="1200" dirty="0">
              <a:solidFill>
                <a:schemeClr val="accent5"/>
              </a:solidFill>
              <a:latin typeface="Poppins" pitchFamily="2" charset="77"/>
              <a:ea typeface="+mn-ea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551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4" r:id="rId2"/>
    <p:sldLayoutId id="2147483829" r:id="rId3"/>
    <p:sldLayoutId id="2147483777" r:id="rId4"/>
    <p:sldLayoutId id="2147483745" r:id="rId5"/>
    <p:sldLayoutId id="2147483775" r:id="rId6"/>
    <p:sldLayoutId id="2147483776" r:id="rId7"/>
    <p:sldLayoutId id="2147483746" r:id="rId8"/>
    <p:sldLayoutId id="2147483748" r:id="rId9"/>
    <p:sldLayoutId id="2147483826" r:id="rId10"/>
    <p:sldLayoutId id="2147483828" r:id="rId11"/>
    <p:sldLayoutId id="2147483778" r:id="rId12"/>
    <p:sldLayoutId id="2147483749" r:id="rId13"/>
    <p:sldLayoutId id="2147483758" r:id="rId14"/>
    <p:sldLayoutId id="2147483767" r:id="rId15"/>
    <p:sldLayoutId id="2147483768" r:id="rId16"/>
    <p:sldLayoutId id="2147483747" r:id="rId17"/>
    <p:sldLayoutId id="2147483753" r:id="rId18"/>
    <p:sldLayoutId id="2147483820" r:id="rId19"/>
    <p:sldLayoutId id="2147483783" r:id="rId20"/>
    <p:sldLayoutId id="2147483751" r:id="rId21"/>
    <p:sldLayoutId id="2147483752" r:id="rId22"/>
    <p:sldLayoutId id="2147483754" r:id="rId23"/>
    <p:sldLayoutId id="2147483750" r:id="rId24"/>
    <p:sldLayoutId id="2147483764" r:id="rId25"/>
    <p:sldLayoutId id="2147483766" r:id="rId26"/>
    <p:sldLayoutId id="2147483756" r:id="rId27"/>
    <p:sldLayoutId id="2147483757" r:id="rId28"/>
    <p:sldLayoutId id="2147483759" r:id="rId29"/>
    <p:sldLayoutId id="2147483760" r:id="rId30"/>
    <p:sldLayoutId id="2147483761" r:id="rId31"/>
    <p:sldLayoutId id="2147483763" r:id="rId32"/>
    <p:sldLayoutId id="2147483765" r:id="rId33"/>
    <p:sldLayoutId id="2147483769" r:id="rId34"/>
    <p:sldLayoutId id="2147483770" r:id="rId35"/>
    <p:sldLayoutId id="2147483772" r:id="rId36"/>
    <p:sldLayoutId id="2147483832" r:id="rId37"/>
    <p:sldLayoutId id="2147483822" r:id="rId38"/>
    <p:sldLayoutId id="2147483821" r:id="rId3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+mj-lt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" Target="slide9.xml"/><Relationship Id="rId5" Type="http://schemas.openxmlformats.org/officeDocument/2006/relationships/slide" Target="slide12.xml"/><Relationship Id="rId6" Type="http://schemas.openxmlformats.org/officeDocument/2006/relationships/slide" Target="slide16.xml"/><Relationship Id="rId7" Type="http://schemas.openxmlformats.org/officeDocument/2006/relationships/slide" Target="slide21.xml"/><Relationship Id="rId8" Type="http://schemas.openxmlformats.org/officeDocument/2006/relationships/slide" Target="slide24.xml"/><Relationship Id="rId9" Type="http://schemas.openxmlformats.org/officeDocument/2006/relationships/slide" Target="slide28.xml"/><Relationship Id="rId10" Type="http://schemas.openxmlformats.org/officeDocument/2006/relationships/slide" Target="slide30.xml"/><Relationship Id="rId11" Type="http://schemas.openxmlformats.org/officeDocument/2006/relationships/slide" Target="slide34.xml"/><Relationship Id="rId12" Type="http://schemas.openxmlformats.org/officeDocument/2006/relationships/slide" Target="slide38.xml"/><Relationship Id="rId13" Type="http://schemas.openxmlformats.org/officeDocument/2006/relationships/slide" Target="slide41.xml"/><Relationship Id="rId14" Type="http://schemas.openxmlformats.org/officeDocument/2006/relationships/slide" Target="slide47.xml"/><Relationship Id="rId15" Type="http://schemas.openxmlformats.org/officeDocument/2006/relationships/slide" Target="slide48.xml"/><Relationship Id="rId16" Type="http://schemas.openxmlformats.org/officeDocument/2006/relationships/slide" Target="slide51.xml"/><Relationship Id="rId17" Type="http://schemas.openxmlformats.org/officeDocument/2006/relationships/slide" Target="slide54.xml"/><Relationship Id="rId18" Type="http://schemas.openxmlformats.org/officeDocument/2006/relationships/slide" Target="slide57.xml"/><Relationship Id="rId19" Type="http://schemas.openxmlformats.org/officeDocument/2006/relationships/slide" Target="slide60.xml"/><Relationship Id="rId20" Type="http://schemas.openxmlformats.org/officeDocument/2006/relationships/slide" Target="slide63.xml"/><Relationship Id="rId21" Type="http://schemas.openxmlformats.org/officeDocument/2006/relationships/slide" Target="slide66.xml"/><Relationship Id="rId22" Type="http://schemas.openxmlformats.org/officeDocument/2006/relationships/slide" Target="slide69.xml"/><Relationship Id="rId23" Type="http://schemas.openxmlformats.org/officeDocument/2006/relationships/slide" Target="slide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Ultra Accelerator Link Protocol Formats (Reference Only)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Packet Taxonomy: UALink Technical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Packet Taxonomy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Cornelis Networks Engineering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UALink 200 Protocol - Reference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UALink (Ultra Accelerator Link) - AI/ML accelerator interconnect protocol</a:t>
            </a:r>
          </a:p>
          <a:p>
            <a:r>
              <a:t>• NOT currently supported by PMR - included for reference only</a:t>
            </a:r>
          </a:p>
          <a:p>
            <a:r>
              <a:t>• 38 packet definitions across 5 protocol layers (6,023 total lines)</a:t>
            </a:r>
          </a:p>
          <a:p>
            <a:r>
              <a:t>• Designed for high-bandwidth, low-latency GPU/TPU communication</a:t>
            </a:r>
          </a:p>
          <a:p>
            <a:r>
              <a:t>• Based on UALink 200 Specification v1.0 (April 2025)</a:t>
            </a:r>
          </a:p>
          <a:p>
            <a:r>
              <a:t>• May be relevant for future AI/ML accelerator interconnect work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Protocol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Layer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083"/>
                <a:gridCol w="715606"/>
                <a:gridCol w="5824824"/>
                <a:gridCol w="71560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Key Formats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 (Upper Protocol Layer Interface)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commands.ksy, request_channel.ksy, status_codes.ksy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~1,500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tl_flit.ksy, control_half_flit.ksy, data_half_flit.ksy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~1,200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Data 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dl_flit.ksy, segment_header.ksy, crc.ksy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~1,400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alignment_markers.ksy, 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~255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authentication.ksy, encryption.ksy, key_derivation.ksy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~1,700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UALink Protocol: NOT SUPPORTED by PMR</a:t>
            </a:r>
          </a:p>
          <a:p>
            <a:r>
              <a:t>• Datamodel included for reference and future planning</a:t>
            </a:r>
          </a:p>
          <a:p>
            <a:r>
              <a:t>• May be considered for future AI/ML workloads</a:t>
            </a:r>
          </a:p>
          <a:p>
            <a:r>
              <a:t>• All 38 KSY files are production-quality with spec traceability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PMR Support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5-Layer UALink Protocol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Layer 5: UPLI (Upper Protocol Layer Interface) - Application-facing API</a:t>
            </a:r>
          </a:p>
          <a:p>
            <a:r>
              <a:t>• Layer 4: Transaction Layer - TL Flits, Flow Control, Compression</a:t>
            </a:r>
          </a:p>
          <a:p>
            <a:r>
              <a:t>• Layer 3: Data Link Layer - DL Flits, Segments, CRC, Replay</a:t>
            </a:r>
          </a:p>
          <a:p>
            <a:r>
              <a:t>• Layer 2: Physical Layer - Alignment, Training, Ordered Sets</a:t>
            </a:r>
          </a:p>
          <a:p>
            <a:r>
              <a:t>• Cross-cutting: Security Layer - Authentication, Encryption, Key Management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Protocol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Protocol Layer Details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764"/>
                <a:gridCol w="2567277"/>
                <a:gridCol w="5012303"/>
                <a:gridCol w="232277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Primary Function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Key Structures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Application interface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Commands, Request/Response Channels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framing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 (64 bytes), Half-Flits (32 bytes)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Data 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Reliable delivery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DL Flit (640 bytes), Segments, CRC-32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6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Lane alignment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Alignment Markers, Control Ordered Sets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Encryption/Auth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AES-GCM, Key Derivation, Key Rotation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9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UPLI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Upper Protocol Layer Interface (8 KSY Files)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UPLI Packet Formats (6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79"/>
                <a:gridCol w="3505225"/>
                <a:gridCol w="731442"/>
                <a:gridCol w="3067072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commands.ksy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UPLI command definitions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221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4.1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request_channel.ksy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channel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338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4.2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originator_data_channel.ksy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Originator data channel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4.3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read_response_channel.ksy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Read response channel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172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4.4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write_response_channel.ksy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Write response channel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4.5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status_codes.ksy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Status code definitions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4.6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UPLI Protocol State Machines </a:t>
            </a:r>
            <a:r>
              <a:rPr sz="2000"/>
              <a:t>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388"/>
                <a:gridCol w="3222695"/>
                <a:gridCol w="719648"/>
                <a:gridCol w="3652388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protocols/connection_handshake.ksy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Connection setup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182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IDLE, CONNECTING, CONNECTED, ERROR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protocols/flow_control.ksy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Flow control 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178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Credit-based flow control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TL Flit Formats and Protocols (9 KSY Files)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Transaction Layer Formats </a:t>
            </a:r>
            <a:r>
              <a:rPr sz="2000"/>
              <a:t>(7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0993"/>
                <a:gridCol w="4340993"/>
                <a:gridCol w="1578543"/>
                <a:gridCol w="98658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Transaction Layer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half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data_half_flit.ksy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half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half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request_field.ksy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field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response_field.ksy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 field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317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flow_control_field.ksy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Flow control 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127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Transaction Layer Protocols </a:t>
            </a:r>
            <a:r>
              <a:rPr sz="2000"/>
              <a:t>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958"/>
                <a:gridCol w="2860146"/>
                <a:gridCol w="721780"/>
                <a:gridCol w="457623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Function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protocols/compression.ksy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compression 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Field compression for requests/responses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protocols/address_cache.ksy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Address caching 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Address compression via caching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TL Flit: 64 bytes (512 bits) - fundamental unit of data transfer</a:t>
            </a:r>
          </a:p>
          <a:p>
            <a:r>
              <a:t>• Contains two 32-byte Half-Flits (Half-Flit 0 and Half-Flit 1)</a:t>
            </a:r>
          </a:p>
          <a:p>
            <a:r>
              <a:t>• Half-Flit types: Control, Data, or Message (indicated by DL Segment Header)</a:t>
            </a:r>
          </a:p>
          <a:p>
            <a:r>
              <a:t>• Up to 10 TL Flits pack into one 640-byte DL Flit</a:t>
            </a:r>
          </a:p>
          <a:p>
            <a:r>
              <a:t>• Control Half-Flits contain request/response fields</a:t>
            </a:r>
          </a:p>
          <a:p>
            <a:r>
              <a:t>• Data Half-Flits contain 32 bytes of payload 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 Flit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Link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DL Flit Formats, Messages, and Protocols (12 KSY Files)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Data Link Layer Headers </a:t>
            </a:r>
            <a:r>
              <a:rPr sz="2000"/>
              <a:t>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233"/>
                <a:gridCol w="4325815"/>
                <a:gridCol w="1946616"/>
                <a:gridCol w="108145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dl_flit.ksy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Link Layer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233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flit_header.ksy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Flit header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173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71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CRC-32 calculation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36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Data Link Layer Messages </a:t>
            </a:r>
            <a:r>
              <a:rPr sz="2000"/>
              <a:t>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0090"/>
                <a:gridCol w="2655570"/>
                <a:gridCol w="781050"/>
                <a:gridCol w="328041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messages/control_messages.ksy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messages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6.4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messages/basic_messages.ksy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Basic messages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6.4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messages/uart_messages.ksy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UART messages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6.4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messages/vendor_defined.ksy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Vendor extensions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6.4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Data Link Layer Protocols </a:t>
            </a:r>
            <a:r>
              <a:rPr sz="2000"/>
              <a:t>(4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341"/>
                <a:gridCol w="2604651"/>
                <a:gridCol w="719985"/>
                <a:gridCol w="455814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protocols/link_state.ksy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DL_FAULT, DL_IDLE, DL_NOP, DL_UP, DL_PWRDN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protocols/link_resiliency.ksy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resiliency 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Error detection and recovery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protocols/link_level_replay.ksy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Replay 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Flit replay for error recovery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protocols/link_folding.ksy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folding protocol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Dynamic link width adjustment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Flit Header: 3 bytes (sequence numbers, operation type)</a:t>
            </a:r>
          </a:p>
          <a:p>
            <a:r>
              <a:t>• Segment 0: 129 bytes (1B header + 128B payload, 32 sectors)</a:t>
            </a:r>
          </a:p>
          <a:p>
            <a:r>
              <a:t>• Segment 1: 129 bytes (1B header + 128B payload, 32 sectors)</a:t>
            </a:r>
          </a:p>
          <a:p>
            <a:r>
              <a:t>• Segment 2: 129 bytes (1B header + 128B payload, 32 sectors)</a:t>
            </a:r>
          </a:p>
          <a:p>
            <a:r>
              <a:t>• Segment 3: 125 bytes (1B header + 124B payload, 31 sectors)</a:t>
            </a:r>
          </a:p>
          <a:p>
            <a:r>
              <a:t>• Segment 4: 121 bytes (1B header + 120B payload, 30 sectors)</a:t>
            </a:r>
          </a:p>
          <a:p>
            <a:r>
              <a:t>• CRC: 4 bytes (CRC-32 per IEEE 802.3)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DL Flit Structure (640 bytes)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Lane Alignment and Link Training (4 KSY Files)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 Layer Formats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963"/>
                <a:gridCol w="3299155"/>
                <a:gridCol w="749808"/>
                <a:gridCol w="314919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alignment_markers.ksy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Lane alignment markers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7.2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sequences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7.3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reconciliation_sublayer.ksy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RS sublayer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7.4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 Layer Protocols </a:t>
            </a:r>
            <a:r>
              <a:rPr sz="2000"/>
              <a:t>(1 file)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724"/>
                <a:gridCol w="2991724"/>
                <a:gridCol w="720680"/>
                <a:gridCol w="454298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protocols/link_training.ksy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training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Training sequence for link initialization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Authentication, Encryption, and Key Management (5 KSY Files)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Security Layer Formats </a:t>
            </a:r>
            <a:r>
              <a:rPr sz="2000"/>
              <a:t>(3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719"/>
                <a:gridCol w="2630505"/>
                <a:gridCol w="725095"/>
                <a:gridCol w="563679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Reference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authentication.ksy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Authentication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9.3, Tables 9-1, 9-2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encryption.ksy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Encryption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9.5, Tables 9-4 through 9-7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iv_format.ksy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Initialization vector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UALink200 Section 9.4, Table 9-3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Security Layer Protocols </a:t>
            </a:r>
            <a:r>
              <a:rPr sz="2000"/>
              <a:t>(2 files)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3364"/>
                <a:gridCol w="3203364"/>
                <a:gridCol w="721780"/>
                <a:gridCol w="411861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protocols/key_derivation.ksy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derivation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359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KDF per Figure 9-8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protocols/key_rotation.ksy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rotation 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395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Key swap per Figures 9-9, 9-11, 9-12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AES-GCM encryption for data confidentiality</a:t>
            </a:r>
          </a:p>
          <a:p>
            <a:r>
              <a:t>• Authentication tags for data integrity</a:t>
            </a:r>
          </a:p>
          <a:p>
            <a:r>
              <a:t>• Three independent IV streams (Request, Read Response, Write Response)</a:t>
            </a:r>
          </a:p>
          <a:p>
            <a:r>
              <a:t>• Key derivation function (KDF) for master/derived keys</a:t>
            </a:r>
          </a:p>
          <a:p>
            <a:r>
              <a:t>• Key rotation protocol for periodic key refresh</a:t>
            </a:r>
          </a:p>
          <a:p>
            <a:r>
              <a:t>• Modes: No security, Encryption only, Encryption + Integrity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State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 State Machines Across All Layers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All UALink State Machines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245"/>
                <a:gridCol w="3573851"/>
                <a:gridCol w="2102265"/>
                <a:gridCol w="4414757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File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State Machine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Key 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UPLI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protocols/connection_handshake.ksy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Connection Handshake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IDLE, CONNECTING, CONNECTED, ERROR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UPLI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protocols/flow_control.ksy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Flow Control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Credit-based flow management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Transaction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protocols/address_cache.ksy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Address Cache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Cache hit/miss handling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Transaction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protocols/compression.ksy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Compression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Field compression 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 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protocols/link_state.ksy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State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DL_FAULT, DL_IDLE, DL_NOP, DL_UP, DL_PWRDN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 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protocols/link_resiliency.ksy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Resiliency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Error detection/recovery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 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protocols/link_level_replay.ksy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Level Replay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Flit replay for errors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 Link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protocols/link_folding.ksy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Folding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Dynamic width adjustment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Physical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protocols/link_training.ksy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Link Training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Training sequence states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Security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protocols/key_derivation.ksy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Key Derivation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KDF state machine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Security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protocols/key_rotation.ksy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Key Rotation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Key swap flow states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 Variant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Flit Types and Half-Flit Encodings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TL Flit Half-Flit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3186684"/>
                <a:gridCol w="4311396"/>
                <a:gridCol w="149961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Message 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Half-Flit 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Content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Half-Flit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Request/Response fields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Half-Flit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Payload data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Half-Flit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indicator 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for future use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DL Flit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396"/>
                <a:gridCol w="4753937"/>
                <a:gridCol w="2782792"/>
                <a:gridCol w="231899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Format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Payload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Contains TL Flits and/or DL messages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Explicit Sequence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Normal data transfer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NOP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segment headers = 0, all payloads = 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Explicit Sequence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Link idle/keepalive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Command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Special header format for replay control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Command 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Error recovery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Response Field Variants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543"/>
                <a:gridCol w="2927332"/>
                <a:gridCol w="1540701"/>
                <a:gridCol w="338954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Variant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Spec Table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Use Case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Uncompressed Response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 bits (2 sectors)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Table 5-30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Standard responses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Compressed Single-Beat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bits (1 sector)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Table 5-34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Single-beat compressed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Compressed Multi-Beat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bits (1 sector)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Table 5-36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Multi-beat compressed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Packet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TL Flit, DL Flit, and Segment Header Layouts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TL Flit Structure (64 bytes)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387"/>
                <a:gridCol w="992392"/>
                <a:gridCol w="1323190"/>
                <a:gridCol w="711214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half_flit_0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First Half-Flit (type per Message[0] bits)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half_flit_1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Second Half-Flit (type per Message[1] bits)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DL Flit Structure (640 bytes)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782"/>
                <a:gridCol w="1071154"/>
                <a:gridCol w="1606731"/>
                <a:gridCol w="660545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flit_header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Sequence numbers, operation type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129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1B header + 128B payload (32 sectors)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129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1B header + 128B payload (32 sectors)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261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129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1B header + 128B payload (32 sectors)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390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125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1B header + 124B payload (31 sectors)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515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121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1B header + 120B payload (30 sectors)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636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CRC-32 per IEEE 802.3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Segment Header Structure </a:t>
            </a:r>
            <a:r>
              <a:rPr sz="2000"/>
              <a:t>(1 byte)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3249168"/>
                <a:gridCol w="724814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Bit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dl_alt_sector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DL alternative sector present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(must be 0)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3:2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Flit[0] message indicators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tl_flit_0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Flit[0] present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6:5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Flit[1] message indicators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tl_flit_1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Flit[1] present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Overhead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Protocol Overhead Analysis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Per-Layer Header Overhead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4735629"/>
                <a:gridCol w="3078159"/>
                <a:gridCol w="118390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 Size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Payload Capacity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Overhead 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 bytes (type in DL)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DL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 bytes (3B header + 5B segment headers)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628 bytes payload + 4B 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1.9%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DL Flit (total)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 bytes (headers + CRC)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1.9%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 (Auth Tag)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16 bytes per TL Flit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Variable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Variable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DL Flit Segment Allocation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920240"/>
                <a:gridCol w="2468880"/>
                <a:gridCol w="1920240"/>
                <a:gridCol w="2468880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Segment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Sectors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Total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 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129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 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129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 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129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 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124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125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 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 byte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120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121 bytes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Total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628 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157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633 bytes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38 UALink KSY Files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UPLI Layer Files (8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5340"/>
                <a:gridCol w="1081453"/>
                <a:gridCol w="173032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 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upli/commands.ksy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221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upli/request_channel.ksy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338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upli/originator_data_channel.ksy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upli/read_response_channel.ksy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172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upli/write_response_channel.ksy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upli/status_codes.ksy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upli/protocols/connection_handshake.ksy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182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upli/protocols/flow_control.ksy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178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Transaction Layer Files </a:t>
            </a:r>
            <a:r>
              <a:rPr sz="2000"/>
              <a:t>(9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5340"/>
                <a:gridCol w="1081453"/>
                <a:gridCol w="173032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 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transaction/tl_flit.ksy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transaction/control_half_flit.ksy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111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transaction/data_half_flit.ksy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transaction/message_half_flit.ksy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148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transaction/request_field.ksy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133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transaction/response_field.ksy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317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transaction/flow_control_field.ksy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transaction/protocols/compression.ksy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transaction/protocols/address_cache.ksy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Data Link Layer Files </a:t>
            </a:r>
            <a:r>
              <a:rPr sz="2000"/>
              <a:t>(12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8392"/>
                <a:gridCol w="1061049"/>
                <a:gridCol w="1697678"/>
              </a:tblGrid>
              <a:tr h="292608">
                <a:tc>
                  <a:txBody>
                    <a:bodyPr/>
                    <a:lstStyle/>
                    <a:p>
                      <a:r>
                        <a:rPr sz="1600" b="1"/>
                        <a:t>File 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 b="1"/>
                        <a:t>Category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datalink/dl_flit.ksy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233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datalink/flit_header.ksy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173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datalink/segment_header.ksy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datalink/crc.ksy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36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datalink/messages/control_messages.ksy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Message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datalink/messages/basic_messages.ksy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70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Message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datalink/messages/uart_messages.ksy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63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Message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datalink/messages/vendor_defined.ksy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49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Message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datalink/protocols/link_state.ksy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209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datalink/protocols/link_resiliency.ksy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89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datalink/protocols/link_level_replay.ksy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145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600"/>
                        <a:t>datalink/protocols/link_folding.ksy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98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Physical Layer Files (4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3190"/>
                <a:gridCol w="1147665"/>
                <a:gridCol w="183626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 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physical/alignment_markers.ksy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physical/control_ordered_sets.ksy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physical/reconciliation_sublayer.ksy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physical/protocols/link_training.ksy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Security Layer Files (5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2868"/>
                <a:gridCol w="1124712"/>
                <a:gridCol w="1799539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File Path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Lines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Category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security/authentication.ksy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security/encryption.ksy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483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security/iv_format.ksy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216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Format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security/protocols/key_derivation.ksy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359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security/protocols/key_rotation.ksy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395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Protocol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Header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Field-level documentation with packet diagrams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DL Flit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bytes (24 bits)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header_bytes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ualink_flit_header Packet Layout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ualink_flit_header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285"/>
                <a:gridCol w="705380"/>
                <a:gridCol w="756642"/>
                <a:gridCol w="705380"/>
                <a:gridCol w="756643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header_bytes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Raw 3-byte flit header. Use instances to extract fields and 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Data Link Layer Flit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640 bytes (5120 bits)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flit_header                  |   segment_0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segment_0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segment_1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segment_1   |                   segment_2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segment_2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segment_2           |           segment_3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segment_3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segment_3                   |   segment_4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segment_4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  crc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ualink_dl_flit Packet Layout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ualink_dl_flit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993"/>
                <a:gridCol w="707674"/>
                <a:gridCol w="786540"/>
                <a:gridCol w="707674"/>
                <a:gridCol w="7603237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flit_header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Flit Header (3 bytes / 24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 0 (129 bytes = 1 byte header + 128 bytes payload).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 1 (129 bytes = 1 byte header + 128 bytes payload).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 2 (129 bytes = 1 byte header + 128 bytes payload).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segment_3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1000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3120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 3 (125 bytes = 1 byte header + 124 bytes payload).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segment_4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968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4120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 4 (121 bytes = 1 byte header + 120 bytes payload).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crc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32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5088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CRC-32 (4 bytes / 32 bits).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DL Segment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bytes (8 bits)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|d|r|mes|t|mes|t                    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ualink_segment_header Packet Layout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ualink_segment_header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938"/>
                <a:gridCol w="803365"/>
                <a:gridCol w="1205048"/>
                <a:gridCol w="803365"/>
                <a:gridCol w="5824401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dl_alt_sector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DL alternative sector present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bit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Flit[0] message indicators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tl_flit_0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Flit[0] present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Flit[1] message indicators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tl_flit_1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7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TL Flit[1] present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Transaction Layer Flit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64 bytes (512 bits)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half_flit_0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half_flit_1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ualink_tl_flit Packet Layout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ualink_tl_flit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325"/>
                <a:gridCol w="727821"/>
                <a:gridCol w="1049086"/>
                <a:gridCol w="727821"/>
                <a:gridCol w="681906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half_flit_0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First Half-Flit (32 bytes / 256 bits).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half_flit_1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Second Half-Flit (32 bytes / 256 bits).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Message Half-Flit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32 bytes (256 bits)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message_content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ualink_message_half_flit Packet Layout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ualink_message_half_flit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354"/>
                <a:gridCol w="707674"/>
                <a:gridCol w="786540"/>
                <a:gridCol w="707674"/>
                <a:gridCol w="7078875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message_content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Message Content (256 bits / 8 sectors × 32 bits each).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Data Half-Flit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32 bytes (256 bits)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payload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ualink_data_half_flit Packet Layout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ualink_data_half_flit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112"/>
                <a:gridCol w="717901"/>
                <a:gridCol w="919810"/>
                <a:gridCol w="717901"/>
                <a:gridCol w="7818394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payload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Data Payload (256 bits / 8 sectors × 32 bits each).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Control Half-Flit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32 bytes (256 bits)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                            sectors                           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ualink_control_half_flit Packet Layout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ualink_control_half_flit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459"/>
                <a:gridCol w="709307"/>
                <a:gridCol w="807822"/>
                <a:gridCol w="709307"/>
                <a:gridCol w="807822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sectors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256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/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Control Half-Flit Sectors (256 bits / 8 sectors × 32 bits ea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 Flow Control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bytes (32 bits)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>
                <a:latin typeface="Consolas"/>
              </a:rPr>
              <a:t> 0                   1                   2                   3</a:t>
            </a:r>
          </a:p>
          <a:p>
            <a:r>
              <a:rPr sz="1200">
                <a:latin typeface="Consolas"/>
              </a:rPr>
              <a:t> 0 1 2 3 4 5 6 7 8 9 0 1 2 3 4 5 6 7 8 9 0 1 2 3 4 5 6 7 8 9 0 1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  <a:p>
            <a:r>
              <a:rPr sz="1200">
                <a:latin typeface="Consolas"/>
              </a:rPr>
              <a:t>|req_cmd_cre|rsp_cmd_cre|req_data_credit|rsp_data_credit|reserv|</a:t>
            </a:r>
          </a:p>
          <a:p>
            <a:r>
              <a:rPr sz="1200">
                <a:latin typeface="Consolas"/>
              </a:rPr>
              <a:t>+--+--+--+--+--+--+--+--+--+--+--+--+--+--+--+--+--+--+--+--+--+--+--+--+--+--+--+--+--+--+--+--+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ualink_flow_control_field Packet Layout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ualink_flow_control_field Field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7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335"/>
                <a:gridCol w="703253"/>
                <a:gridCol w="728933"/>
                <a:gridCol w="703253"/>
                <a:gridCol w="7289343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Field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Bits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Offset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Type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Description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req_cmd_credit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command credits (3-bit count + 2-bit VC + 1-bit Pool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rsp_cmd_credit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b6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 command credits (3-bit count + 2-bit VC + 1-bit Poo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req_data_credit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Request data credits (5-bit count + 2-bit VC + 1-bit Pool)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rsp_data_credit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Response data credits (5-bit count + 2-bit VC + 1-bit Pool)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reserved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b4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Reserved bits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Specification Documents and Resources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UALink 200 Specification v1.0 (UALink Consortium, April 2025)</a:t>
            </a:r>
          </a:p>
          <a:p>
            <a:r>
              <a:t>• UALink 1.5 DLPL Specification (UALink Consortium, January 2026)</a:t>
            </a:r>
          </a:p>
          <a:p>
            <a:r>
              <a:t>• IEEE 802.3 Clause 91, 119, 172 (FEC codeword sizing)</a:t>
            </a:r>
          </a:p>
          <a:p>
            <a:r>
              <a:t>• IEEE 802.3 Clause 3.2.9 (CRC-32 polynomial)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References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Datamodel Directory: earlysim/datamodel/protocols/ualink/</a:t>
            </a:r>
          </a:p>
          <a:p>
            <a:r>
              <a:t>• Analysis Document: analysis/packet_taxonomy/packet_taxonomy_ualink.md</a:t>
            </a:r>
          </a:p>
          <a:p>
            <a:r>
              <a:t>• Issues Document: analysis/ualink/ualink_issues.md</a:t>
            </a:r>
          </a:p>
          <a:p>
            <a:r>
              <a:t>• Metadata: earlysim/datamodel/protocols/ualink/metadata.yaml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Datamodel Resources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Specification Traceability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18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528"/>
                <a:gridCol w="1711518"/>
                <a:gridCol w="2445026"/>
                <a:gridCol w="4401046"/>
              </a:tblGrid>
              <a:tr h="292608">
                <a:tc>
                  <a:txBody>
                    <a:bodyPr/>
                    <a:lstStyle/>
                    <a:p>
                      <a:r>
                        <a:rPr sz="1800" b="1"/>
                        <a:t>Spec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Version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Date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 b="1"/>
                        <a:t>Coverage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UALink 200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v1.0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2025-04-08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All 38 KSY files</a:t>
                      </a:r>
                    </a:p>
                  </a:txBody>
                  <a:tcPr marL="45720" marR="45720" marT="45720" marB="45720" anchor="ctr"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800"/>
                        <a:t>UALink DLPL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v1.5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2026-01-12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r>
                        <a:rPr sz="1800"/>
                        <a:t>segment_header.ksy</a:t>
                      </a:r>
                    </a:p>
                  </a:txBody>
                  <a:tcPr marL="45720" marR="45720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" action="ppaction://hlinksldjump"/>
              </a:rPr>
              <a:t>Overview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3" action="ppaction://hlinksldjump"/>
              </a:rPr>
              <a:t>Protocol Architecture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4" action="ppaction://hlinksldjump"/>
              </a:rPr>
              <a:t>UPLI Layer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5" action="ppaction://hlinksldjump"/>
              </a:rPr>
              <a:t>Transaction Layer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6" action="ppaction://hlinksldjump"/>
              </a:rPr>
              <a:t>Data Link Layer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7" action="ppaction://hlinksldjump"/>
              </a:rPr>
              <a:t>Physical Layer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8" action="ppaction://hlinksldjump"/>
              </a:rPr>
              <a:t>Security Layer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9" action="ppaction://hlinksldjump"/>
              </a:rPr>
              <a:t>Protocol State Machines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0" action="ppaction://hlinksldjump"/>
              </a:rPr>
              <a:t>Packet Variant Matrix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1" action="ppaction://hlinksldjump"/>
              </a:rPr>
              <a:t>Detailed Packet Structures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2" action="ppaction://hlinksldjump"/>
              </a:rPr>
              <a:t>Header Overhead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3" action="ppaction://hlinksldjump"/>
              </a:rPr>
              <a:t>Datamodel Coverage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4" action="ppaction://hlinksldjump"/>
              </a:rPr>
              <a:t>Detailed Header Formats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5" action="ppaction://hlinksldjump"/>
              </a:rPr>
              <a:t>UALink DL Flit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6" action="ppaction://hlinksldjump"/>
              </a:rPr>
              <a:t>UALink Data Link Layer Flit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7" action="ppaction://hlinksldjump"/>
              </a:rPr>
              <a:t>UALink DL Segment Header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8" action="ppaction://hlinksldjump"/>
              </a:rPr>
              <a:t>UALink Transaction Layer Flit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19" action="ppaction://hlinksldjump"/>
              </a:rPr>
              <a:t>UALink Message Half-Flit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0" action="ppaction://hlinksldjump"/>
              </a:rPr>
              <a:t>UALink Data Half-Flit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1" action="ppaction://hlinksldjump"/>
              </a:rPr>
              <a:t>UALink Control Half-Flit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2" action="ppaction://hlinksldjump"/>
              </a:rPr>
              <a:t>UALink Flow Control Field</a:t>
            </a:r>
          </a:p>
          <a:p>
            <a:pPr>
              <a:spcAft>
                <a:spcPts val="200"/>
              </a:spcAft>
            </a:pPr>
            <a:r>
              <a:rPr sz="1400" b="1" u="sng">
                <a:solidFill>
                  <a:srgbClr val="003399"/>
                </a:solidFill>
                <a:hlinkClick r:id="rId23" action="ppaction://hlinksldjump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3" id="{E02F04B8-C54B-480F-8EF5-E7029B480F57}" vid="{6988A6CD-D722-4DA6-AF03-B111BAEE2D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Description xmlns="http://schemas.microsoft.com/sharepoint.v3" xsi:nil="true"/>
    <lcf76f155ced4ddcb4097134ff3c332f xmlns="abc4e0d4-2e11-4d2b-931d-cb9fc30c6685">
      <Terms xmlns="http://schemas.microsoft.com/office/infopath/2007/PartnerControls"/>
    </lcf76f155ced4ddcb4097134ff3c332f>
    <PublishingExpirationDate xmlns="http://schemas.microsoft.com/sharepoint/v3" xsi:nil="true"/>
    <PublishingStartDate xmlns="http://schemas.microsoft.com/sharepoint/v3" xsi:nil="true"/>
    <TaxCatchAll xmlns="b49ca187-4f68-45e7-8077-dcf9b25b728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53227EFA3D144B4F9B06F007145E3" ma:contentTypeVersion="48" ma:contentTypeDescription="Create a new document." ma:contentTypeScope="" ma:versionID="be0164df2a005fa2d390aab7505fd57f">
  <xsd:schema xmlns:xsd="http://www.w3.org/2001/XMLSchema" xmlns:xs="http://www.w3.org/2001/XMLSchema" xmlns:p="http://schemas.microsoft.com/office/2006/metadata/properties" xmlns:ns1="http://schemas.microsoft.com/sharepoint/v3" xmlns:ns2="b49ca187-4f68-45e7-8077-dcf9b25b7285" xmlns:ns3="abc4e0d4-2e11-4d2b-931d-cb9fc30c6685" xmlns:ns4="http://schemas.microsoft.com/sharepoint.v3" targetNamespace="http://schemas.microsoft.com/office/2006/metadata/properties" ma:root="true" ma:fieldsID="de4414065ad7fea119e785c8e6a86210" ns1:_="" ns2:_="" ns3:_="" ns4:_="">
    <xsd:import namespace="http://schemas.microsoft.com/sharepoint/v3"/>
    <xsd:import namespace="b49ca187-4f68-45e7-8077-dcf9b25b7285"/>
    <xsd:import namespace="abc4e0d4-2e11-4d2b-931d-cb9fc30c6685"/>
    <xsd:import namespace="http://schemas.microsoft.com/sharepoint.v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2:TaxCatchAll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4:Category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ca187-4f68-45e7-8077-dcf9b25b728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3094f560-c313-4005-8af5-6c328bc05426}" ma:internalName="TaxCatchAll" ma:showField="CatchAllData" ma:web="b49ca187-4f68-45e7-8077-dcf9b25b72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4e0d4-2e11-4d2b-931d-cb9fc30c6685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4451702-ee48-4fb3-a7d0-1fc691b54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21" nillable="true" ma:displayName="Description" ma:internalName="Category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5674D-189E-4E26-AFF9-F8FA6DBD4AA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9DE1FF4-E276-452C-ACA1-58825830DA33}">
  <ds:schemaRefs>
    <ds:schemaRef ds:uri="http://schemas.microsoft.com/office/2006/metadata/properties"/>
    <ds:schemaRef ds:uri="http://schemas.microsoft.com/sharepoint.v3"/>
    <ds:schemaRef ds:uri="http://purl.org/dc/dcmitype/"/>
    <ds:schemaRef ds:uri="http://schemas.microsoft.com/office/infopath/2007/PartnerControls"/>
    <ds:schemaRef ds:uri="http://purl.org/dc/terms/"/>
    <ds:schemaRef ds:uri="http://schemas.microsoft.com/sharepoint/v3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abc4e0d4-2e11-4d2b-931d-cb9fc30c6685"/>
    <ds:schemaRef ds:uri="b49ca187-4f68-45e7-8077-dcf9b25b72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270A200-2018-40F2-ACF4-1EDCA097A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9ca187-4f68-45e7-8077-dcf9b25b7285"/>
    <ds:schemaRef ds:uri="abc4e0d4-2e11-4d2b-931d-cb9fc30c6685"/>
    <ds:schemaRef ds:uri="http://schemas.microsoft.com/sharepoint.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917AFFD-C253-4487-B83A-AAD30D5C05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Atkins, Mark</dc:creator>
  <cp:lastModifiedBy>Atkins, Mark</cp:lastModifiedBy>
  <cp:revision>1</cp:revision>
  <dcterms:created xsi:type="dcterms:W3CDTF">2026-02-04T15:59:49Z</dcterms:created>
  <dcterms:modified xsi:type="dcterms:W3CDTF">2026-02-04T16:03:27Z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0x010100C8653227EFA3D144B4F9B06F007145E3</vt:lpwstr>
  </property>
  <property fmtid="{D5CDD505-2E9C-101B-9397-08002B2CF9AE}" pid="3" name="MediaServiceImageTags">
    <vt:lpwstr/>
  </property>
  <property fmtid="{D5CDD505-2E9C-101B-9397-08002B2CF9AE}" pid="4" name="b5c8439c0f5046928b7a6c406acb4c25">
    <vt:lpwstr/>
  </property>
  <property fmtid="{D5CDD505-2E9C-101B-9397-08002B2CF9AE}" pid="5" name="RefLibPTIDepartmentName">
    <vt:lpwstr/>
  </property>
  <property fmtid="{D5CDD505-2E9C-101B-9397-08002B2CF9AE}" pid="6" name="db0e9dfb34a048389a6f815dbdf60112">
    <vt:lpwstr/>
  </property>
  <property fmtid="{D5CDD505-2E9C-101B-9397-08002B2CF9AE}" pid="7" name="o6c0f2e36b054cee9d63e58c076b3545">
    <vt:lpwstr/>
  </property>
  <property fmtid="{D5CDD505-2E9C-101B-9397-08002B2CF9AE}" pid="8" name="RefLibPTIContentType">
    <vt:lpwstr/>
  </property>
  <property fmtid="{D5CDD505-2E9C-101B-9397-08002B2CF9AE}" pid="9" name="RefLibPTIPPCName">
    <vt:lpwstr/>
  </property>
</Properties>
</file>