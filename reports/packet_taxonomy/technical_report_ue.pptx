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5"/>
  </p:sldMasterIdLst>
  <p:notesMasterIdLst>
    <p:notesMasterId r:id="rId6"/>
  </p:notesMasterIdLst>
  <p:sldIdLst>
    <p:sldId id="256" r:id="rId12"/>
    <p:sldId id="384" r:id="rId140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11"/>
    <p:sldId id="320" r:id="rId10"/>
    <p:sldId id="321" r:id="rId9"/>
    <p:sldId id="322" r:id="rId8"/>
    <p:sldId id="323" r:id="rId7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52" r:id="rId108"/>
    <p:sldId id="353" r:id="rId109"/>
    <p:sldId id="354" r:id="rId110"/>
    <p:sldId id="355" r:id="rId111"/>
    <p:sldId id="356" r:id="rId112"/>
    <p:sldId id="357" r:id="rId113"/>
    <p:sldId id="358" r:id="rId114"/>
    <p:sldId id="359" r:id="rId115"/>
    <p:sldId id="360" r:id="rId116"/>
    <p:sldId id="361" r:id="rId117"/>
    <p:sldId id="362" r:id="rId118"/>
    <p:sldId id="363" r:id="rId119"/>
    <p:sldId id="364" r:id="rId120"/>
    <p:sldId id="365" r:id="rId121"/>
    <p:sldId id="366" r:id="rId122"/>
    <p:sldId id="367" r:id="rId123"/>
    <p:sldId id="368" r:id="rId124"/>
    <p:sldId id="369" r:id="rId125"/>
    <p:sldId id="370" r:id="rId126"/>
    <p:sldId id="371" r:id="rId127"/>
    <p:sldId id="372" r:id="rId128"/>
    <p:sldId id="373" r:id="rId129"/>
    <p:sldId id="374" r:id="rId130"/>
    <p:sldId id="375" r:id="rId131"/>
    <p:sldId id="376" r:id="rId132"/>
    <p:sldId id="377" r:id="rId133"/>
    <p:sldId id="378" r:id="rId134"/>
    <p:sldId id="379" r:id="rId135"/>
    <p:sldId id="380" r:id="rId136"/>
    <p:sldId id="381" r:id="rId137"/>
    <p:sldId id="382" r:id="rId138"/>
    <p:sldId id="383" r:id="rId139"/>
  </p:sldIdLst>
  <p:sectionLst>
    <p:section name="Ultra Ethernet Overview" id="{969CCE23-4DBD-4DF6-8B13-34E9FF3387FE}">
      <p:sldIdLst>
        <p:sldId id="257"/>
      </p:sldIdLst>
    </p:section>
    <p:section name="UE Packet Variants" id="{D98D6538-24AE-49FD-AAD4-03CA55F0D04F}">
      <p:sldIdLst>
        <p:sldId id="260"/>
      </p:sldIdLst>
    </p:section>
    <p:section name="Header Overhead Summary" id="{34D62B3E-F52B-45FA-B40F-01C083233890}">
      <p:sldIdLst>
        <p:sldId id="343"/>
      </p:sldIdLst>
    </p:section>
    <p:section name="Protocol Architecture" id="{358D8DA3-23E9-4434-9678-90E37D7FB4B8}">
      <p:sldIdLst>
        <p:sldId id="270"/>
      </p:sldIdLst>
    </p:section>
    <p:section name="UE Protocol Enumerations" id="{D835579B-810C-481A-99E0-EA7322CD3667}">
      <p:sldIdLst>
        <p:sldId id="272"/>
      </p:sldIdLst>
    </p:section>
    <p:section name="UE Protocol State Machines" id="{1701D9E7-64E1-4059-BD70-4FC2CA68673A}">
      <p:sldIdLst>
        <p:sldId id="291"/>
      </p:sldIdLst>
    </p:section>
    <p:section name="PDS Header Building Blocks" id="{AE3D00EE-A632-41CB-A49D-60B8E4C36C01}">
      <p:sldIdLst>
        <p:sldId id="303"/>
      </p:sldIdLst>
    </p:section>
    <p:section name="SES Header Building Blocks" id="{8924BF42-96B4-4287-AA49-AD0ABDF5C5AA}">
      <p:sldIdLst>
        <p:sldId id="306"/>
      </p:sldIdLst>
    </p:section>
    <p:section name="CMS Header Building Blocks" id="{B720299E-B4CE-465E-8B2A-2A215EEC2439}">
      <p:sldIdLst>
        <p:sldId id="309"/>
      </p:sldIdLst>
    </p:section>
    <p:section name="TSS Header Building Blocks" id="{2BCDC6A4-E4D4-45EE-8988-F9AA2CAA0273}">
      <p:sldIdLst>
        <p:sldId id="312"/>
      </p:sldIdLst>
    </p:section>
    <p:section name="Link Layer Building Blocks" id="{201BD954-B924-4053-93F9-CDE703EE7B39}">
      <p:sldIdLst>
        <p:sldId id="315"/>
      </p:sldIdLst>
    </p:section>
    <p:section name="Network and Physical Layer" id="{563154C8-C80F-46BA-ACA1-29115C779FD8}">
      <p:sldIdLst>
        <p:sldId id="321"/>
      </p:sldIdLst>
    </p:section>
    <p:section name="PDS Packet Variant Matrix" id="{FFDD6155-7348-4EF7-91F2-FECEAFB191E7}">
      <p:sldIdLst>
        <p:sldId id="324"/>
      </p:sldIdLst>
    </p:section>
    <p:section name="SES Packet Variant Matrix" id="{62F65DB6-0514-4738-8EF3-56928BC39372}">
      <p:sldIdLst>
        <p:sldId id="328"/>
      </p:sldIdLst>
    </p:section>
    <p:section name="Detailed Packet Structures" id="{ADFFABE8-6C23-4A2A-81D1-33514765C4E9}">
      <p:sldIdLst>
        <p:sldId id="331"/>
      </p:sldIdLst>
    </p:section>
    <p:section name="State Machines Summary" id="{7F39DA7D-1D24-4D71-B288-CA7C7523A92D}">
      <p:sldIdLst>
        <p:sldId id="339"/>
      </p:sldIdLst>
    </p:section>
    <p:section name="Complete Datamodel Coverage" id="{414B8BA2-7E9C-4B16-96FE-98B4CC424C85}">
      <p:sldIdLst>
        <p:sldId id="346"/>
      </p:sldIdLst>
    </p:section>
    <p:section name="Detailed Header Formats" id="{A03F89BF-F907-405D-A3BC-5B9BE5192035}">
      <p:sldIdLst>
        <p:sldId id="358"/>
      </p:sldIdLst>
    </p:section>
    <p:section name="LLR Preamble 64B/66B Block Format" id="{EB18BAE0-27F6-42CE-8496-76D4553C55B7}">
      <p:sldIdLst>
        <p:sldId id="359"/>
      </p:sldIdLst>
    </p:section>
    <p:section name="LLR_ACK Control Ordered Set (CtlOS)" id="{3B9178C0-AD5E-47B2-AE5C-385A663B0232}">
      <p:sldIdLst>
        <p:sldId id="362"/>
      </p:sldIdLst>
    </p:section>
    <p:section name="LLR_NACK Control Ordered Set (CtlOS)" id="{32018EB7-62F7-42DC-8E82-3C40FB086E0D}">
      <p:sldIdLst>
        <p:sldId id="365"/>
      </p:sldIdLst>
    </p:section>
    <p:section name="CBFC CF_Update Control Ordered Set (CtlOS)" id="{EF3855F6-D4E2-4EC6-BF32-E2356D1FA013}">
      <p:sldIdLst>
        <p:sldId id="368"/>
      </p:sldIdLst>
    </p:section>
    <p:section name="CBFC CC_Update Message" id="{36CFE9A4-D144-453E-85B1-9ACB7B729E63}">
      <p:sldIdLst>
        <p:sldId id="371"/>
      </p:sldIdLst>
    </p:section>
    <p:section name="UE Link Negotiation Options TLV" id="{747C0174-4A0C-4221-8D45-73C91C4A30CE}">
      <p:sldIdLst>
        <p:sldId id="374"/>
      </p:sldIdLst>
    </p:section>
    <p:section name="UE CBFC TLV" id="{92AF9A74-B1FF-4204-B90B-B4DE6A028736}">
      <p:sldIdLst>
        <p:sldId id="377"/>
      </p:sldIdLst>
    </p:section>
    <p:section name="References" id="{721D2F72-6BF7-4C8D-A820-97403B542FA3}">
      <p:sldIdLst>
        <p:sldId id="380"/>
      </p:sldIdLst>
    </p:section>
  </p:section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xDH5FARZnmGpYYgqGTRyKNkJ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3A"/>
    <a:srgbClr val="AD53FD"/>
    <a:srgbClr val="3D0070"/>
    <a:srgbClr val="6400B9"/>
    <a:srgbClr val="8B00FE"/>
    <a:srgbClr val="000000"/>
    <a:srgbClr val="E5484D"/>
    <a:srgbClr val="D43DFD"/>
    <a:srgbClr val="12B76A"/>
    <a:srgbClr val="000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0" d="100"/>
          <a:sy n="90" d="100"/>
        </p:scale>
        <p:origin x="588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68.xml"/><Relationship Id="rId8" Type="http://schemas.openxmlformats.org/officeDocument/2006/relationships/slide" Target="slides/slide67.xml"/><Relationship Id="rId9" Type="http://schemas.openxmlformats.org/officeDocument/2006/relationships/slide" Target="slides/slide66.xml"/><Relationship Id="rId10" Type="http://schemas.openxmlformats.org/officeDocument/2006/relationships/slide" Target="slides/slide65.xml"/><Relationship Id="rId11" Type="http://schemas.openxmlformats.org/officeDocument/2006/relationships/slide" Target="slides/slide6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customschemas.google.com/relationships/presentationmetadata" Target="meta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slide" Target="slides/slide109.xml"/><Relationship Id="rId121" Type="http://schemas.openxmlformats.org/officeDocument/2006/relationships/slide" Target="slides/slide110.xml"/><Relationship Id="rId122" Type="http://schemas.openxmlformats.org/officeDocument/2006/relationships/slide" Target="slides/slide111.xml"/><Relationship Id="rId123" Type="http://schemas.openxmlformats.org/officeDocument/2006/relationships/slide" Target="slides/slide112.xml"/><Relationship Id="rId124" Type="http://schemas.openxmlformats.org/officeDocument/2006/relationships/slide" Target="slides/slide113.xml"/><Relationship Id="rId125" Type="http://schemas.openxmlformats.org/officeDocument/2006/relationships/slide" Target="slides/slide114.xml"/><Relationship Id="rId126" Type="http://schemas.openxmlformats.org/officeDocument/2006/relationships/slide" Target="slides/slide115.xml"/><Relationship Id="rId127" Type="http://schemas.openxmlformats.org/officeDocument/2006/relationships/slide" Target="slides/slide116.xml"/><Relationship Id="rId128" Type="http://schemas.openxmlformats.org/officeDocument/2006/relationships/slide" Target="slides/slide117.xml"/><Relationship Id="rId129" Type="http://schemas.openxmlformats.org/officeDocument/2006/relationships/slide" Target="slides/slide118.xml"/><Relationship Id="rId130" Type="http://schemas.openxmlformats.org/officeDocument/2006/relationships/slide" Target="slides/slide119.xml"/><Relationship Id="rId131" Type="http://schemas.openxmlformats.org/officeDocument/2006/relationships/slide" Target="slides/slide120.xml"/><Relationship Id="rId132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57" y="3948803"/>
            <a:ext cx="9112295" cy="313163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304792" marR="0" lvl="0" indent="-304792" algn="l" defTabSz="914377" rtl="0" eaLnBrk="1" fontAlgn="auto" latinLnBrk="0" hangingPunct="1">
              <a:lnSpc>
                <a:spcPct val="90000"/>
              </a:lnSpc>
              <a:spcBef>
                <a:spcPts val="2667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674" y="2437396"/>
            <a:ext cx="9112294" cy="14784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4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58" y="4987395"/>
            <a:ext cx="5120643" cy="32008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5358" y="5271645"/>
            <a:ext cx="5120643" cy="248914"/>
          </a:xfrm>
        </p:spPr>
        <p:txBody>
          <a:bodyPr wrap="square">
            <a:spAutoFit/>
          </a:bodyPr>
          <a:lstStyle>
            <a:lvl1pPr marL="0" indent="0" algn="l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5357" y="4695684"/>
            <a:ext cx="5120643" cy="263149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525004"/>
            <a:ext cx="4741164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4836"/>
            <a:ext cx="12192000" cy="591242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0" y="267246"/>
            <a:ext cx="4741164" cy="1113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 userDrawn="1"/>
        </p:nvSpPr>
        <p:spPr>
          <a:xfrm>
            <a:off x="-18853" y="18658"/>
            <a:ext cx="12192000" cy="6839342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84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32"/>
            <a:ext cx="12363089" cy="686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71" y="267246"/>
            <a:ext cx="4741162" cy="1113086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78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Cover B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01917"/>
            <a:ext cx="12192000" cy="5956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97642" y="4654332"/>
            <a:ext cx="9112295" cy="4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97643" y="5731853"/>
            <a:ext cx="5120643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97643" y="6016103"/>
            <a:ext cx="5120643" cy="37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84425" y="2897379"/>
            <a:ext cx="9112293" cy="172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540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97642" y="5440142"/>
            <a:ext cx="5120643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" y="323230"/>
            <a:ext cx="4741162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Blank with log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 userDrawn="1">
  <p:cSld name="1_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DC221-ECA4-C855-89A6-27A713E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A8D2FC7B-FD75-9151-D953-0B8E32E9D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522497-B421-1DC0-7E36-7571DBE4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8593E28C-D816-D562-4029-9FA87B3EA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320" y="1167898"/>
            <a:ext cx="11209360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856234"/>
            <a:ext cx="11209360" cy="432477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173705"/>
            <a:ext cx="12192000" cy="3684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6" y="1584960"/>
            <a:ext cx="11299064" cy="4621876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3799002"/>
            <a:ext cx="12192000" cy="34125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1549392"/>
            <a:ext cx="11299064" cy="4611263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Title and 3 Claim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89748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3954" y="4169260"/>
            <a:ext cx="2098052" cy="811988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451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9846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4052" y="4169260"/>
            <a:ext cx="2098052" cy="811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7549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675200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9406" y="4169260"/>
            <a:ext cx="2098052" cy="811988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22903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4053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91" y="469209"/>
            <a:ext cx="5113613" cy="631992"/>
          </a:xfrm>
        </p:spPr>
        <p:txBody>
          <a:bodyPr>
            <a:noAutofit/>
          </a:bodyPr>
          <a:lstStyle>
            <a:lvl1pPr>
              <a:defRPr sz="44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113613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7067" y="469208"/>
            <a:ext cx="5113867" cy="626325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44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2400" dirty="0" smtClean="0"/>
            </a:lvl2pPr>
            <a:lvl3pPr>
              <a:defRPr lang="en-US" sz="2400" dirty="0" smtClean="0"/>
            </a:lvl3pPr>
            <a:lvl4pPr>
              <a:defRPr lang="en-US" sz="2400" dirty="0" smtClean="0"/>
            </a:lvl4pPr>
            <a:lvl5pPr>
              <a:defRPr lang="en-US" sz="2400" dirty="0"/>
            </a:lvl5pPr>
          </a:lstStyle>
          <a:p>
            <a:pPr marL="152396" lvl="0" indent="-457189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587069" y="1584960"/>
            <a:ext cx="5113611" cy="4636936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51" y="1706151"/>
            <a:ext cx="537474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51" y="628650"/>
            <a:ext cx="3554095" cy="26186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  <a:lvl3pPr marL="914400" indent="0">
              <a:buNone/>
              <a:defRPr sz="1200">
                <a:solidFill>
                  <a:schemeClr val="tx2"/>
                </a:solidFill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93" y="3227610"/>
            <a:ext cx="4769277" cy="21559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0"/>
            <a:ext cx="7254240" cy="68580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89" y="1675492"/>
            <a:ext cx="4097972" cy="1660604"/>
          </a:xfrm>
        </p:spPr>
        <p:txBody>
          <a:bodyPr>
            <a:noAutofit/>
          </a:bodyPr>
          <a:lstStyle>
            <a:lvl1pPr>
              <a:defRPr sz="420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0" y="3572715"/>
            <a:ext cx="4097972" cy="23177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489" y="1099426"/>
            <a:ext cx="3055373" cy="37995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9" y="217054"/>
            <a:ext cx="2048766" cy="48099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22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0935" y="1514592"/>
            <a:ext cx="73509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50936" y="2346036"/>
            <a:ext cx="7350930" cy="3903947"/>
          </a:xfrm>
        </p:spPr>
        <p:txBody>
          <a:bodyPr numCol="2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400B9"/>
              </a:buClr>
              <a:buSzPct val="100000"/>
              <a:buFont typeface="+mj-lt"/>
              <a:buNone/>
              <a:defRPr lang="en-US" sz="24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981449" cy="6858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2982" y="487681"/>
            <a:ext cx="68285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2982" y="1130725"/>
            <a:ext cx="68285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2" y="1584960"/>
            <a:ext cx="6828581" cy="457569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40063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5166479"/>
            <a:ext cx="11209360" cy="100987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10515600" cy="1009878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610733"/>
            <a:ext cx="44006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4" y="1549392"/>
            <a:ext cx="44006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9870" y="3691"/>
            <a:ext cx="715036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2" y="487681"/>
            <a:ext cx="735093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51" y="1117949"/>
            <a:ext cx="735093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73509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0552" y="0"/>
            <a:ext cx="398144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746" y="487681"/>
            <a:ext cx="54301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746" y="1163449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36" y="1584960"/>
            <a:ext cx="543018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1684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273" y="487681"/>
            <a:ext cx="543018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8273" y="1176262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273" y="1584960"/>
            <a:ext cx="5430181" cy="4658822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0987" y="895738"/>
            <a:ext cx="6359847" cy="5066523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5516584" cy="100987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 userDrawn="1"/>
        </p:nvSpPr>
        <p:spPr>
          <a:xfrm>
            <a:off x="5834270" y="4012189"/>
            <a:ext cx="3668960" cy="1133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36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543"/>
            <a:ext cx="5181600" cy="4351338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583" y="1682543"/>
            <a:ext cx="5075582" cy="4351338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1595438"/>
            <a:ext cx="10515394" cy="169085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0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6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8932" y="3571703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9447" y="3590360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94" y="3599688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2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2" y="217880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372131" y="2178800"/>
            <a:ext cx="5265688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4182" y="4466250"/>
            <a:ext cx="526472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374052" y="446625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004889" indent="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None/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6096001" y="-453643"/>
            <a:ext cx="5541818" cy="161365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554182" y="-453643"/>
            <a:ext cx="9310255" cy="161365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2" y="191475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372131" y="1914754"/>
            <a:ext cx="5265688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554181" y="4202204"/>
            <a:ext cx="526472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6374052" y="420220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3" y="2178800"/>
            <a:ext cx="3325091" cy="1694329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433455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312727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54183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4433455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312727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4433455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8312727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554183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4433455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8312727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8" y="4991068"/>
            <a:ext cx="5491073" cy="123933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8252" y="4997817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47322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96" y="225105"/>
            <a:ext cx="5491073" cy="12393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31854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0" y="1847274"/>
            <a:ext cx="12191999" cy="432261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1" y="1143338"/>
            <a:ext cx="11214099" cy="4576527"/>
          </a:xfrm>
        </p:spPr>
        <p:txBody>
          <a:bodyPr anchor="ctr">
            <a:normAutofit/>
          </a:bodyPr>
          <a:lstStyle>
            <a:lvl1pPr algn="ctr">
              <a:defRPr sz="88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9884" cy="6858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0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57200" y="1213605"/>
            <a:ext cx="5752410" cy="147417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57200" y="2939110"/>
            <a:ext cx="5527964" cy="133438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6629" y="1415834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7694"/>
            <a:ext cx="5527964" cy="45864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4375" y="942248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684" y="226424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12772" y="947092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9241" y="2273481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9472" y="3855441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2124" y="5191045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9393" y="3833665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2368" y="516116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26876" y="1439042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1458" y="4314087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4378" y="4343968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502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00" y="6366607"/>
            <a:ext cx="1713225" cy="428862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02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2502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192743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2984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33225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743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92743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2984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2984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33225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33225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7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3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 userDrawn="1"/>
        </p:nvSpPr>
        <p:spPr>
          <a:xfrm>
            <a:off x="914401" y="2255038"/>
            <a:ext cx="67665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2627382"/>
            <a:ext cx="6656044" cy="1719247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 userDrawn="1"/>
        </p:nvGrpSpPr>
        <p:grpSpPr>
          <a:xfrm flipV="1">
            <a:off x="626909" y="4939722"/>
            <a:ext cx="7250126" cy="764786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 userDrawn="1"/>
        </p:nvSpPr>
        <p:spPr>
          <a:xfrm>
            <a:off x="1346390" y="5054911"/>
            <a:ext cx="1737278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 userDrawn="1"/>
        </p:nvSpPr>
        <p:spPr>
          <a:xfrm>
            <a:off x="3820898" y="5054911"/>
            <a:ext cx="2716331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1252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1" y="4988397"/>
            <a:ext cx="365760" cy="36576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719" y="4988397"/>
            <a:ext cx="365760" cy="36576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3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26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 userDrawn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862140" y="2431694"/>
            <a:ext cx="10775678" cy="31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540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24" y="545661"/>
            <a:ext cx="6323648" cy="1485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 userDrawn="1"/>
        </p:nvSpPr>
        <p:spPr>
          <a:xfrm>
            <a:off x="101600" y="6478593"/>
            <a:ext cx="27339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11320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6034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3635" y="6654800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ornelis Networks  </a:t>
            </a:r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| 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Confidential  </a:t>
            </a:r>
            <a:endParaRPr lang="en-US" sz="900" kern="1200" dirty="0">
              <a:solidFill>
                <a:schemeClr val="tx1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0584" y="6656832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ornelis Networks | Confidential</a:t>
            </a:r>
            <a:endParaRPr lang="en-US" sz="900" kern="1200" dirty="0">
              <a:solidFill>
                <a:schemeClr val="accent5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5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4" r:id="rId2"/>
    <p:sldLayoutId id="2147483829" r:id="rId3"/>
    <p:sldLayoutId id="2147483777" r:id="rId4"/>
    <p:sldLayoutId id="2147483745" r:id="rId5"/>
    <p:sldLayoutId id="2147483775" r:id="rId6"/>
    <p:sldLayoutId id="2147483776" r:id="rId7"/>
    <p:sldLayoutId id="2147483746" r:id="rId8"/>
    <p:sldLayoutId id="2147483748" r:id="rId9"/>
    <p:sldLayoutId id="2147483826" r:id="rId10"/>
    <p:sldLayoutId id="2147483828" r:id="rId11"/>
    <p:sldLayoutId id="2147483778" r:id="rId12"/>
    <p:sldLayoutId id="2147483749" r:id="rId13"/>
    <p:sldLayoutId id="2147483758" r:id="rId14"/>
    <p:sldLayoutId id="2147483767" r:id="rId15"/>
    <p:sldLayoutId id="2147483768" r:id="rId16"/>
    <p:sldLayoutId id="2147483747" r:id="rId17"/>
    <p:sldLayoutId id="2147483753" r:id="rId18"/>
    <p:sldLayoutId id="2147483820" r:id="rId19"/>
    <p:sldLayoutId id="2147483783" r:id="rId20"/>
    <p:sldLayoutId id="2147483751" r:id="rId21"/>
    <p:sldLayoutId id="2147483752" r:id="rId22"/>
    <p:sldLayoutId id="2147483754" r:id="rId23"/>
    <p:sldLayoutId id="2147483750" r:id="rId24"/>
    <p:sldLayoutId id="2147483764" r:id="rId25"/>
    <p:sldLayoutId id="2147483766" r:id="rId26"/>
    <p:sldLayoutId id="2147483756" r:id="rId27"/>
    <p:sldLayoutId id="2147483757" r:id="rId28"/>
    <p:sldLayoutId id="2147483759" r:id="rId29"/>
    <p:sldLayoutId id="2147483760" r:id="rId30"/>
    <p:sldLayoutId id="2147483761" r:id="rId31"/>
    <p:sldLayoutId id="2147483763" r:id="rId32"/>
    <p:sldLayoutId id="2147483765" r:id="rId33"/>
    <p:sldLayoutId id="2147483769" r:id="rId34"/>
    <p:sldLayoutId id="2147483770" r:id="rId35"/>
    <p:sldLayoutId id="2147483772" r:id="rId36"/>
    <p:sldLayoutId id="2147483832" r:id="rId37"/>
    <p:sldLayoutId id="2147483822" r:id="rId38"/>
    <p:sldLayoutId id="2147483821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j-lt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9.xml"/><Relationship Id="rId5" Type="http://schemas.openxmlformats.org/officeDocument/2006/relationships/slide" Target="slide15.xml"/><Relationship Id="rId6" Type="http://schemas.openxmlformats.org/officeDocument/2006/relationships/slide" Target="slide17.xml"/><Relationship Id="rId7" Type="http://schemas.openxmlformats.org/officeDocument/2006/relationships/slide" Target="slide36.xml"/><Relationship Id="rId8" Type="http://schemas.openxmlformats.org/officeDocument/2006/relationships/slide" Target="slide48.xml"/><Relationship Id="rId9" Type="http://schemas.openxmlformats.org/officeDocument/2006/relationships/slide" Target="slide51.xml"/><Relationship Id="rId10" Type="http://schemas.openxmlformats.org/officeDocument/2006/relationships/slide" Target="slide54.xml"/><Relationship Id="rId11" Type="http://schemas.openxmlformats.org/officeDocument/2006/relationships/slide" Target="slide57.xml"/><Relationship Id="rId12" Type="http://schemas.openxmlformats.org/officeDocument/2006/relationships/slide" Target="slide60.xml"/><Relationship Id="rId13" Type="http://schemas.openxmlformats.org/officeDocument/2006/relationships/slide" Target="slide66.xml"/><Relationship Id="rId14" Type="http://schemas.openxmlformats.org/officeDocument/2006/relationships/slide" Target="slide69.xml"/><Relationship Id="rId15" Type="http://schemas.openxmlformats.org/officeDocument/2006/relationships/slide" Target="slide73.xml"/><Relationship Id="rId16" Type="http://schemas.openxmlformats.org/officeDocument/2006/relationships/slide" Target="slide76.xml"/><Relationship Id="rId17" Type="http://schemas.openxmlformats.org/officeDocument/2006/relationships/slide" Target="slide84.xml"/><Relationship Id="rId18" Type="http://schemas.openxmlformats.org/officeDocument/2006/relationships/slide" Target="slide88.xml"/><Relationship Id="rId19" Type="http://schemas.openxmlformats.org/officeDocument/2006/relationships/slide" Target="slide91.xml"/><Relationship Id="rId20" Type="http://schemas.openxmlformats.org/officeDocument/2006/relationships/slide" Target="slide103.xml"/><Relationship Id="rId21" Type="http://schemas.openxmlformats.org/officeDocument/2006/relationships/slide" Target="slide104.xml"/><Relationship Id="rId22" Type="http://schemas.openxmlformats.org/officeDocument/2006/relationships/slide" Target="slide107.xml"/><Relationship Id="rId23" Type="http://schemas.openxmlformats.org/officeDocument/2006/relationships/slide" Target="slide110.xml"/><Relationship Id="rId24" Type="http://schemas.openxmlformats.org/officeDocument/2006/relationships/slide" Target="slide113.xml"/><Relationship Id="rId25" Type="http://schemas.openxmlformats.org/officeDocument/2006/relationships/slide" Target="slide116.xml"/><Relationship Id="rId26" Type="http://schemas.openxmlformats.org/officeDocument/2006/relationships/slide" Target="slide119.xml"/><Relationship Id="rId27" Type="http://schemas.openxmlformats.org/officeDocument/2006/relationships/slide" Target="slide122.xml"/><Relationship Id="rId28" Type="http://schemas.openxmlformats.org/officeDocument/2006/relationships/slide" Target="slide1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UE Specification v1.0.1 Protocol Formats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Packet Taxonomy: Ultra Ethernet Technical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Packet Taxonomy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Cornelis Networks 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 Ethernet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Architecture and Key Characteristics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High-performance RDMA transport over Ethernet infrastructure</a:t>
            </a:r>
          </a:p>
          <a:p>
            <a:r>
              <a:t>• Layered architecture: Physical, Link, Network, Transport</a:t>
            </a:r>
          </a:p>
          <a:p>
            <a:r>
              <a:t>• Transport sublayers: PDS (Packet Delivery), SES (Semantic), CMS (Congestion), TSS (Security)</a:t>
            </a:r>
          </a:p>
          <a:p>
            <a:r>
              <a:t>• Multiple delivery modes: RUD, ROD, RUDI, UUD</a:t>
            </a:r>
          </a:p>
          <a:p>
            <a:r>
              <a:t>• Congestion control algorithms: NSCC, RCCC, TFC</a:t>
            </a:r>
          </a:p>
          <a:p>
            <a:r>
              <a:t>• Link-layer reliability via LLR (Link Layer Reliable)</a:t>
            </a:r>
          </a:p>
          <a:p>
            <a:r>
              <a:t>• Credit-based flow control via CBFC</a:t>
            </a:r>
          </a:p>
          <a:p>
            <a:r>
              <a:t>• AES-GCM encryption via TSS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Protocol Key Characteristics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 Datamodel Coverage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481"/>
                <a:gridCol w="1799539"/>
                <a:gridCol w="2699308"/>
                <a:gridCol w="3149193"/>
                <a:gridCol w="157459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Format Files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Protocol Files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**Total**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**53**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**50**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**103**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Packet Variants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packet type matrix with header stacks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Basic UE Packets </a:t>
            </a:r>
            <a:r>
              <a:rPr sz="2000"/>
              <a:t>(No Encryption)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925"/>
                <a:gridCol w="4624983"/>
                <a:gridCol w="1471585"/>
                <a:gridCol w="336362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PDS → SES(std)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tagged send/recv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PDS → SES(small)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Small messages (&lt;256B)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+ CSIG Compact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PDS → CC(8B) →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+ NSCC congestion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+ CSIG Wide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PDS → CC(16B) →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+ extended CC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Rendezvous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PDS → SES(std) → RDV(32B)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Large message transfers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Deferrable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PDS → SES(defer)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CCL-style unexpected messaging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 IPv4 Native Packets </a:t>
            </a:r>
            <a:r>
              <a:rPr sz="2000"/>
              <a:t>(No UDP)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4586204"/>
                <a:gridCol w="1528734"/>
                <a:gridCol w="272988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IPv4 Native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Entropy → PDS → SES(std)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 savings vs UDP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IPv4 + CSIG Compact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Entropy → PDS → CC(8B) →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Native + congestion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IPv4 + CSIG Wide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Entropy → PDS → CC(16B) →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Native + extended CC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Encrypted UE Packets (TSS)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033"/>
                <a:gridCol w="4854020"/>
                <a:gridCol w="1775861"/>
                <a:gridCol w="248620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Encrypted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TSS → PDS →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112B + 16B auth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Secure domain traffic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Encrypted Small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TSS → PDS → SES(small)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 + 16B auth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Secure small messages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IPv4 Encrypted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Entropy → TSS → PDS →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108B + 16B auth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Secure native IPv4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Detailed header size breakdown by component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Header Size by Component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4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219"/>
                <a:gridCol w="705213"/>
                <a:gridCol w="705213"/>
                <a:gridCol w="1488208"/>
                <a:gridCol w="705213"/>
                <a:gridCol w="705213"/>
                <a:gridCol w="705213"/>
                <a:gridCol w="705213"/>
                <a:gridCol w="1063005"/>
                <a:gridCol w="85040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UDP/Ent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Auth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Small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+ CSIG Compact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+ CSIG Wide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IPv4 Native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Encrypted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Rendezvous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Protocol Efficiency Comparison </a:t>
            </a:r>
            <a:r>
              <a:rPr sz="2000"/>
              <a:t>(4KB Payload)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62"/>
                <a:gridCol w="2410097"/>
                <a:gridCol w="2410097"/>
                <a:gridCol w="321346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Min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Max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Efficiency (4KB)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97.9%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IPv4 Native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97.7%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Encrypted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96.9%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(IPv4)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98.1%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┌──────────┬──────────┬──────────┬──────────────┬──────────────┬──────────┬──────────┐</a:t>
            </a:r>
          </a:p>
          <a:p>
            <a:r>
              <a:rPr sz="1200">
                <a:latin typeface="Consolas"/>
              </a:rPr>
              <a:t>│ Ethernet │   IPv4   │   UDP    │ PDS Prologue │  PDS RUD/ROD │ SES Std  │   Data   │</a:t>
            </a:r>
          </a:p>
          <a:p>
            <a:r>
              <a:rPr sz="1200">
                <a:latin typeface="Consolas"/>
              </a:rPr>
              <a:t>│   14B    │   20B    │   8B     │     2B       │     12B      │   44B    │ Variable │</a:t>
            </a:r>
          </a:p>
          <a:p>
            <a:r>
              <a:rPr sz="1200">
                <a:latin typeface="Consolas"/>
              </a:rPr>
              <a:t>└──────────┴──────────┴──────────┴──────────────┴──────────────┴──────────┴──────────┘</a:t>
            </a:r>
          </a:p>
          <a:p/>
          <a:p>
            <a:r>
              <a:rPr sz="1200">
                <a:latin typeface="Consolas"/>
              </a:rPr>
              <a:t>Component Breakdown:</a:t>
            </a:r>
          </a:p>
          <a:p>
            <a:r>
              <a:rPr sz="1200">
                <a:latin typeface="Consolas"/>
              </a:rPr>
              <a:t>- Ethernet II (14B): dst_mac[6B], src_mac[6B], ethertype=0x0800[2B]</a:t>
            </a:r>
          </a:p>
          <a:p>
            <a:r>
              <a:rPr sz="1200">
                <a:latin typeface="Consolas"/>
              </a:rPr>
              <a:t>- IPv4 (20B): version, IHL, TOS, length, ID, flags, TTL, protocol=17, checksum, src_ip, dst_ip</a:t>
            </a:r>
          </a:p>
          <a:p>
            <a:r>
              <a:rPr sz="1200">
                <a:latin typeface="Consolas"/>
              </a:rPr>
              <a:t>- UDP (8B): src_port (entropy), dst_port=4791, length, checksum</a:t>
            </a:r>
          </a:p>
          <a:p>
            <a:r>
              <a:rPr sz="1200">
                <a:latin typeface="Consolas"/>
              </a:rPr>
              <a:t>- PDS Prologue (2B): type[5b], next_hdr[4b], flags[7b]</a:t>
            </a:r>
          </a:p>
          <a:p>
            <a:r>
              <a:rPr sz="1200">
                <a:latin typeface="Consolas"/>
              </a:rPr>
              <a:t>- PDS RUD Request (12B): psn[24b], spdcid[24b], dpdcid[24b], clear_psn_offset[24b]</a:t>
            </a:r>
          </a:p>
          <a:p>
            <a:r>
              <a:rPr sz="1200">
                <a:latin typeface="Consolas"/>
              </a:rPr>
              <a:t>- SES Standard SOM=1 (44B): opcode, flags, match_bits, initiator, buffer_offset, rkey, context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Standard Tagged Send Wire Format (100B)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┌──────────┬──────────┬──────────┬──────────────┬──────────────┬──────────────┬──────────┐</a:t>
            </a:r>
          </a:p>
          <a:p>
            <a:r>
              <a:rPr sz="1200">
                <a:latin typeface="Consolas"/>
              </a:rPr>
              <a:t>│ Ethernet │   IPv4   │   UDP    │ PDS Prologue │  PDS RUD/ROD │  SES Small   │   Data   │</a:t>
            </a:r>
          </a:p>
          <a:p>
            <a:r>
              <a:rPr sz="1200">
                <a:latin typeface="Consolas"/>
              </a:rPr>
              <a:t>│   14B    │   20B    │   8B     │     2B       │     12B      │     32B      │ Variable │</a:t>
            </a:r>
          </a:p>
          <a:p>
            <a:r>
              <a:rPr sz="1200">
                <a:latin typeface="Consolas"/>
              </a:rPr>
              <a:t>└──────────┴──────────┴──────────┴──────────────┴──────────────┴──────────────┴──────────┘</a:t>
            </a:r>
          </a:p>
          <a:p/>
          <a:p>
            <a:r>
              <a:rPr sz="1200">
                <a:latin typeface="Consolas"/>
              </a:rPr>
              <a:t>SES Small Message (32B):</a:t>
            </a:r>
          </a:p>
          <a:p>
            <a:r>
              <a:rPr sz="1200">
                <a:latin typeface="Consolas"/>
              </a:rPr>
              <a:t>- opcode[6b] + version[2b]: Operation code (0x08 for small message)</a:t>
            </a:r>
          </a:p>
          <a:p>
            <a:r>
              <a:rPr sz="1200">
                <a:latin typeface="Consolas"/>
              </a:rPr>
              <a:t>- flags[8b]: dc, ie, rel, hd, eom=1, som=1</a:t>
            </a:r>
          </a:p>
          <a:p>
            <a:r>
              <a:rPr sz="1200">
                <a:latin typeface="Consolas"/>
              </a:rPr>
              <a:t>- request_length[14b]: Max 16383 bytes</a:t>
            </a:r>
          </a:p>
          <a:p>
            <a:r>
              <a:rPr sz="1200">
                <a:latin typeface="Consolas"/>
              </a:rPr>
              <a:t>- ri_generation[8b], job_id[24b], pid_on_fep[12b], resource_index[12b]</a:t>
            </a:r>
          </a:p>
          <a:p>
            <a:r>
              <a:rPr sz="1200">
                <a:latin typeface="Consolas"/>
              </a:rPr>
              <a:t>- initiator[32b], match_bits[64b], header_data[64b]</a:t>
            </a:r>
          </a:p>
          <a:p/>
          <a:p>
            <a:r>
              <a:rPr sz="1200">
                <a:latin typeface="Consolas"/>
              </a:rPr>
              <a:t>Constraints: Single-packet only (som=1, eom=1), max payload 16383B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Small Message Wire Format (88B)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┌──────────┬──────────┬──────────┬──────────────┬──────────┬──────────────┬──────────┬──────────┬──────────┐</a:t>
            </a:r>
          </a:p>
          <a:p>
            <a:r>
              <a:rPr sz="1200">
                <a:latin typeface="Consolas"/>
              </a:rPr>
              <a:t>│ Ethernet │   IPv4   │   UDP    │ PDS Prologue │   TSS    │  PDS RUD/ROD │ SES Std  │   Data   │ Auth Tag │</a:t>
            </a:r>
          </a:p>
          <a:p>
            <a:r>
              <a:rPr sz="1200">
                <a:latin typeface="Consolas"/>
              </a:rPr>
              <a:t>│   14B    │   20B    │   8B     │     2B       │   12B    │     12B      │   44B    │ Variable │   16B    │</a:t>
            </a:r>
          </a:p>
          <a:p>
            <a:r>
              <a:rPr sz="1200">
                <a:latin typeface="Consolas"/>
              </a:rPr>
              <a:t>└──────────┴──────────┴──────────┴──────────────┴──────────┴──────────────┴──────────┴──────────┴──────────┘</a:t>
            </a:r>
          </a:p>
          <a:p>
            <a:r>
              <a:rPr sz="1200">
                <a:latin typeface="Consolas"/>
              </a:rPr>
              <a:t>                                 │◄────────────── Encrypted ──────────────►│</a:t>
            </a:r>
          </a:p>
          <a:p>
            <a:r>
              <a:rPr sz="1200">
                <a:latin typeface="Consolas"/>
              </a:rPr>
              <a:t>                                 │◄─────────────────────── Authenticated ──────────────────────►│</a:t>
            </a:r>
          </a:p>
          <a:p/>
          <a:p>
            <a:r>
              <a:rPr sz="1200">
                <a:latin typeface="Consolas"/>
              </a:rPr>
              <a:t>TSS Header (12B):</a:t>
            </a:r>
          </a:p>
          <a:p>
            <a:r>
              <a:rPr sz="1200">
                <a:latin typeface="Consolas"/>
              </a:rPr>
              <a:t>- tss_type[4b]: TSS packet type</a:t>
            </a:r>
          </a:p>
          <a:p>
            <a:r>
              <a:rPr sz="1200">
                <a:latin typeface="Consolas"/>
              </a:rPr>
              <a:t>- tss_flags[4b]: TSS flags</a:t>
            </a:r>
          </a:p>
          <a:p>
            <a:r>
              <a:rPr sz="1200">
                <a:latin typeface="Consolas"/>
              </a:rPr>
              <a:t>- security_context_id[32b]: Security association identifier</a:t>
            </a:r>
          </a:p>
          <a:p>
            <a:r>
              <a:rPr sz="1200">
                <a:latin typeface="Consolas"/>
              </a:rPr>
              <a:t>- sequence_number[32b]: Anti-replay sequence number</a:t>
            </a:r>
          </a:p>
          <a:p>
            <a:r>
              <a:rPr sz="1200">
                <a:latin typeface="Consolas"/>
              </a:rPr>
              <a:t>- reserved[24b]</a:t>
            </a:r>
          </a:p>
          <a:p/>
          <a:p>
            <a:r>
              <a:rPr sz="1200">
                <a:latin typeface="Consolas"/>
              </a:rPr>
              <a:t>Encryption: AES-GCM with 16-byte authentication tag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Encrypted Packet Wire Format (112B + 16B auth)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UE Layer Diagram and Sublayer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                  Application / RDMA Verbs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                                                                 |</a:t>
            </a:r>
          </a:p>
          <a:p>
            <a:r>
              <a:rPr sz="1200">
                <a:latin typeface="Consolas"/>
              </a:rPr>
              <a:t>|  TRANSPORT LAYER                                                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SES (Semantic Sublayer)                                     |  |</a:t>
            </a:r>
          </a:p>
          <a:p>
            <a:r>
              <a:rPr sz="1200">
                <a:latin typeface="Consolas"/>
              </a:rPr>
              <a:t>|  | - Request/Response operations                               |  |</a:t>
            </a:r>
          </a:p>
          <a:p>
            <a:r>
              <a:rPr sz="1200">
                <a:latin typeface="Consolas"/>
              </a:rPr>
              <a:t>|  | - RDMA Read/Write, Atomics, Tagged Send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PDS (Packet Delivery Sublayer)                              |  |</a:t>
            </a:r>
          </a:p>
          <a:p>
            <a:r>
              <a:rPr sz="1200">
                <a:latin typeface="Consolas"/>
              </a:rPr>
              <a:t>|  | - Reliable/Unreliable delivery                              |  |</a:t>
            </a:r>
          </a:p>
          <a:p>
            <a:r>
              <a:rPr sz="1200">
                <a:latin typeface="Consolas"/>
              </a:rPr>
              <a:t>|  | - Sequence numbers, ACK/NACK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CMS (Congestion Management Sublayer)                        |  |</a:t>
            </a:r>
          </a:p>
          <a:p>
            <a:r>
              <a:rPr sz="1200">
                <a:latin typeface="Consolas"/>
              </a:rPr>
              <a:t>|  | - NSCC, RCCC, TFC algorithms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TSS (Transport Security Sublayer)                           |  |</a:t>
            </a:r>
          </a:p>
          <a:p>
            <a:r>
              <a:rPr sz="1200">
                <a:latin typeface="Consolas"/>
              </a:rPr>
              <a:t>|  | - AES-GCM encryption        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                                          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NETWORK LAYER                                                    |</a:t>
            </a:r>
          </a:p>
          <a:p>
            <a:r>
              <a:rPr sz="1200">
                <a:latin typeface="Consolas"/>
              </a:rPr>
              <a:t>|  - IPv4/IPv6 encapsulation                                        |</a:t>
            </a:r>
          </a:p>
          <a:p>
            <a:r>
              <a:rPr sz="1200">
                <a:latin typeface="Consolas"/>
              </a:rPr>
              <a:t>|  - DSCP categories, packet trimming        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LINK LAYER                                                     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LLR (Link Layer Reliable)                                   |  |</a:t>
            </a:r>
          </a:p>
          <a:p>
            <a:r>
              <a:rPr sz="1200">
                <a:latin typeface="Consolas"/>
              </a:rPr>
              <a:t>|  | - Hop-by-hop reliability    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|  | CBFC (Credit-Based Flow Control)                            |  |</a:t>
            </a:r>
          </a:p>
          <a:p>
            <a:r>
              <a:rPr sz="1200">
                <a:latin typeface="Consolas"/>
              </a:rPr>
              <a:t>|  | - Per-VC flow control                                       |  |</a:t>
            </a:r>
          </a:p>
          <a:p>
            <a:r>
              <a:rPr sz="1200">
                <a:latin typeface="Consolas"/>
              </a:rPr>
              <a:t>|  +-------------------------------------------------------------+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>
            <a:r>
              <a:rPr sz="1200">
                <a:latin typeface="Consolas"/>
              </a:rPr>
              <a:t>|  PHYSICAL LAYER                                                   |</a:t>
            </a:r>
          </a:p>
          <a:p>
            <a:r>
              <a:rPr sz="1200">
                <a:latin typeface="Consolas"/>
              </a:rPr>
              <a:t>|  - 64B/66B encoding, Control Ordered Sets                         |</a:t>
            </a:r>
          </a:p>
          <a:p>
            <a:r>
              <a:rPr sz="1200">
                <a:latin typeface="Consolas"/>
              </a:rPr>
              <a:t>+------------------------------------------------------------------+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Protocol Stack (text)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Protocol Enumerations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 definitions extracted from KSY datamodel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(1/9)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uet_trimmed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Packet was trimmed.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3.5.15.1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uet_trimmed_lasthop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Packet was trimmed at the last hop switch.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3.5.15.1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uet_trimmed_ack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An ACK carrying read response data was trimmed.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original read request (RETX)</a:t>
                      </a:r>
                    </a:p>
                    <a:p>
                      <a:r>
                        <a:rPr sz="1400"/>
                        <a:t>Reference: Section 3.5.15.1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(2/9)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uet_no_pdc_avail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 PDC resource available; pds.spdcid set to 0.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(RETRY - no PDC created)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uet_no_ccc_avail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 CCC resource available; pds.spdcid set to 0.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(RETRY - no PDC created)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uet_no_bitmap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 bitmap or other PSN tracking resource available.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(RETRY - no PDC created)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(3/9)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uet_no_pkt_buffer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 packet buffer resource available.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uet_no_gtd_del_avail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 SES guaranteed delivery response resource available.</a:t>
                      </a:r>
                    </a:p>
                    <a:p>
                      <a:r>
                        <a:rPr sz="1400"/>
                        <a:t>Can't save guaranteed delivery response if needed, packet dropped before SES.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uet_no_ses_msg_avail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 message tracking state available.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(4/9)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uet_no_resource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General resource not available - implementation-specific resource.</a:t>
                      </a:r>
                    </a:p>
                    <a:p>
                      <a:r>
                        <a:rPr sz="1400"/>
                        <a:t>pds.spdcid set to 0 if no associated PDC.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uet_psn_oor_window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PSN outside tracking window (e.g., beyond end of available bitmap).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 if PSN &gt; CACK)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uet_rod_ooo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 PSN arrived out of order on a ROD PDC.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3.5.21.1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(5/9)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uet_inv_dpdcid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pds.dpdcid is not recognized and pds.flags.syn not set.</a:t>
                      </a:r>
                    </a:p>
                    <a:p>
                      <a:r>
                        <a:rPr sz="1400"/>
                        <a:t>pds.spdcid set to 0.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(RETRY)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uet_pdc_hdr_mismatch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Packet does not have pds.flags.syn set but did not match connection state.</a:t>
                      </a:r>
                    </a:p>
                    <a:p>
                      <a:r>
                        <a:rPr sz="1400"/>
                        <a:t>Optional check separate from required dpdcid check.</a:t>
                      </a:r>
                    </a:p>
                    <a:p>
                      <a:r>
                        <a:rPr sz="1400"/>
                        <a:t>pds.spdcid set to 0.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(RETRY)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uet_closing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Target PDCID is in closed state or being closed, new PDS Request advances PSN.</a:t>
                      </a:r>
                    </a:p>
                    <a:p>
                      <a:r>
                        <a:rPr sz="1400"/>
                        <a:t>Error Type: PDC_FATAL (drop packet)</a:t>
                      </a:r>
                    </a:p>
                    <a:p>
                      <a:r>
                        <a:rPr sz="1400"/>
                        <a:t>Source Action: Report error (RETRY)</a:t>
                      </a:r>
                    </a:p>
                    <a:p>
                      <a:r>
                        <a:rPr sz="1400"/>
                        <a:t>Reference: Section 3.5.8.3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(6/9)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uet_closing_in_err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Timeout at target during close process (e.g., no response to Close Request CP).</a:t>
                      </a:r>
                    </a:p>
                    <a:p>
                      <a:r>
                        <a:rPr sz="1400"/>
                        <a:t>Max_RTO_Retx_Cnt exceeded.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(no retransmit)</a:t>
                      </a:r>
                    </a:p>
                    <a:p>
                      <a:r>
                        <a:rPr sz="1400"/>
                        <a:t>Reference: Section 3.5.8.3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uet_pkt_not_rcvd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CP arrived with ACK Request but packet with requested PSN was not received.</a:t>
                      </a:r>
                    </a:p>
                    <a:p>
                      <a:r>
                        <a:rPr sz="1400"/>
                        <a:t>Error Type: PDC_ERR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3.5.16.2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uet_gtd_resp_unavail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Duplicate PSN received, state indicates guaranteed delivery SES Response</a:t>
                      </a:r>
                    </a:p>
                    <a:p>
                      <a:r>
                        <a:rPr sz="1400"/>
                        <a:t>but response cannot be found and PSN was not cleared (implementation error).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(FAIL, no retransmit)</a:t>
                      </a:r>
                    </a:p>
                    <a:p>
                      <a:r>
                        <a:rPr sz="1400"/>
                        <a:t>Reference: Section 3.5.16.2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(7/9)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uet_ack_with_data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Request CP for PSN with associated read response data.</a:t>
                      </a:r>
                    </a:p>
                    <a:p>
                      <a:r>
                        <a:rPr sz="1400"/>
                        <a:t>Error Type: PDC_ERR</a:t>
                      </a:r>
                    </a:p>
                    <a:p>
                      <a:r>
                        <a:rPr sz="1400"/>
                        <a:t>Source Action: Retransmit original packet (RETX)</a:t>
                      </a:r>
                    </a:p>
                    <a:p>
                      <a:r>
                        <a:rPr sz="1400"/>
                        <a:t>Reference: Section 3.5.16.2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uet_invalid_syn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Packet received with pds.flags.syn set with pds.psn outside expected range.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(RETRY)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uet_pdc_mode_mismatch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Packet received and delivery mode does not match (RUD/ROD).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(RETRY)</a:t>
                      </a:r>
                    </a:p>
                    <a:p>
                      <a:r>
                        <a:rPr sz="1400"/>
                        <a:t>Reference: Section 3.5.8.2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(8/9)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uet_new_start_psn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Resend all packets with new Start_PSN.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3.5.8.2.1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uet_rcvd_ses_procg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SES still processing packet (e.g., delayed packet and retransmission arrive close).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(ACK may arrive before RETX)</a:t>
                      </a:r>
                    </a:p>
                    <a:p>
                      <a:r>
                        <a:rPr sz="1400"/>
                        <a:t>Reference: Section 3.5.13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uet_unexp_event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Unexpected event - processing requires unsupported feature or implementation error.</a:t>
                      </a:r>
                    </a:p>
                    <a:p>
                      <a:r>
                        <a:rPr sz="1400"/>
                        <a:t>PDC cannot be recovered.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(RETRY)</a:t>
                      </a:r>
                    </a:p>
                    <a:p>
                      <a:r>
                        <a:rPr sz="1400"/>
                        <a:t>Reference: Generic event, implementation specific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Code Values (9/9)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61"/>
                <a:gridCol w="2126120"/>
                <a:gridCol w="8403238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0x1A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uet_rcvr_infer_loss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Destination infers a PSN was lost and effectively requests retransmission.</a:t>
                      </a:r>
                    </a:p>
                    <a:p>
                      <a:r>
                        <a:rPr sz="1400"/>
                        <a:t>Application specific.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>
                      <a:r>
                        <a:rPr sz="1400"/>
                        <a:t>Reference: Section 3.5.15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0xFD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uet_exp_nack_normal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Experimental NACK code - NORMAL error type.</a:t>
                      </a:r>
                    </a:p>
                    <a:p>
                      <a:r>
                        <a:rPr sz="1400"/>
                        <a:t>Error Type: NORMAL</a:t>
                      </a:r>
                    </a:p>
                    <a:p>
                      <a:r>
                        <a:rPr sz="1400"/>
                        <a:t>Source Action: Retransmit (RETX)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0xFE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uet_exp_nack_err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Experimental NACK code - PDC_ERR error type.</a:t>
                      </a:r>
                    </a:p>
                    <a:p>
                      <a:r>
                        <a:rPr sz="1400"/>
                        <a:t>Error Type: PDC_ERR</a:t>
                      </a:r>
                    </a:p>
                    <a:p>
                      <a:r>
                        <a:rPr sz="1400"/>
                        <a:t>Source Action: Retransmit (RETRY)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uet_exp_nack_fatal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Experimental NACK code - PDC_FATAL error type.</a:t>
                      </a:r>
                    </a:p>
                    <a:p>
                      <a:r>
                        <a:rPr sz="1400"/>
                        <a:t>Error Type: PDC_FATAL</a:t>
                      </a:r>
                    </a:p>
                    <a:p>
                      <a:r>
                        <a:rPr sz="1400"/>
                        <a:t>Source Action: Close PDC (FAIL)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Error Type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1984785"/>
                <a:gridCol w="815967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normal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Normal operation, retransmit expected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pdc_err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 error, retransmit may help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pdc_fatal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Fatal PDC error, PDC should be closed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Nack Source Action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942"/>
                <a:gridCol w="1338942"/>
                <a:gridCol w="856923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Retransmit the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Retry with new PDC establishment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Report failure, do not retry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Request Opcode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  <a:gridCol w="3017520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tagged_send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rma_write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rma_read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atomic_write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atomic_read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atomic_compare_swap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ready_to_restart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small_rma_write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small_rma_read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small_atomic_write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small_atomic_read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small_atomic_compare_swap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reserved_0f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Response Opcode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081"/>
                <a:gridCol w="7157258"/>
                <a:gridCol w="281178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response_with_data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optimized_response_with_data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reserved_04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reserved_05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reserved_06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reserved_07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CMS Cc Type Values (1/4)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024"/>
                <a:gridCol w="1796284"/>
                <a:gridCol w="872481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cc_nscc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CC_NSCC - Network-Signaled Congestion Control.</a:t>
                      </a:r>
                    </a:p>
                    <a:p/>
                    <a:p>
                      <a:r>
                        <a:rPr sz="1400"/>
                        <a:t>When cc_type = 0, the pds.ack_cc_state field uses the NSCC format</a:t>
                      </a:r>
                    </a:p>
                    <a:p>
                      <a:r>
                        <a:rPr sz="1400"/>
                        <a:t>defined in Table 3-74 (8 bytes):</a:t>
                      </a:r>
                    </a:p>
                    <a:p>
                      <a:r>
                        <a:rPr sz="1400"/>
                        <a:t>- service_time (16 bits)</a:t>
                      </a:r>
                    </a:p>
                    <a:p>
                      <a:r>
                        <a:rPr sz="1400"/>
                        <a:t>- restore cwnd / rc (1 bit)</a:t>
                      </a:r>
                    </a:p>
                    <a:p>
                      <a:r>
                        <a:rPr sz="1400"/>
                        <a:t>- rcv_cwnd_pend (7 bits)</a:t>
                      </a:r>
                    </a:p>
                    <a:p>
                      <a:r>
                        <a:rPr sz="1400"/>
                        <a:t>- rcvd_bytes (24 bits)</a:t>
                      </a:r>
                    </a:p>
                    <a:p>
                      <a:r>
                        <a:rPr sz="1400"/>
                        <a:t>- ooo_count (16 bits)</a:t>
                      </a:r>
                    </a:p>
                    <a:p/>
                    <a:p>
                      <a:r>
                        <a:rPr sz="1400"/>
                        <a:t>NSCC uses network-signaled congestion control where the destination</a:t>
                      </a:r>
                    </a:p>
                    <a:p>
                      <a:r>
                        <a:rPr sz="1400"/>
                        <a:t>communicates congestion state back to the source via ACK packets.</a:t>
                      </a:r>
                    </a:p>
                    <a:p/>
                    <a:p>
                      <a:r>
                        <a:rPr sz="1400"/>
                        <a:t>UE Spec: Table 3-48, mnemonic "CC_NSCC"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CMS Cc Type Values (2/4)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024"/>
                <a:gridCol w="1796284"/>
                <a:gridCol w="872481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cc_credit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CC_CREDIT - Credit-based flow control (TFC, RCCC).</a:t>
                      </a:r>
                    </a:p>
                    <a:p/>
                    <a:p>
                      <a:r>
                        <a:rPr sz="1400"/>
                        <a:t>When cc_type = 1, the pds.ack_cc_state field uses the credit format</a:t>
                      </a:r>
                    </a:p>
                    <a:p>
                      <a:r>
                        <a:rPr sz="1400"/>
                        <a:t>defined in Table 3-75 (8 bytes total, 64 bits):</a:t>
                      </a:r>
                    </a:p>
                    <a:p>
                      <a:r>
                        <a:rPr sz="1400"/>
                        <a:t>- credit (24 bits)</a:t>
                      </a:r>
                    </a:p>
                    <a:p>
                      <a:r>
                        <a:rPr sz="1400"/>
                        <a:t>- reserved (24 bits, must be 0)</a:t>
                      </a:r>
                    </a:p>
                    <a:p>
                      <a:r>
                        <a:rPr sz="1400"/>
                        <a:t>- ooo_count (16 bits)</a:t>
                      </a:r>
                    </a:p>
                    <a:p/>
                    <a:p>
                      <a:r>
                        <a:rPr sz="1400"/>
                        <a:t>Note: Table 3-75 defines only credit(24)+ooo_count(16)=40 bits, but</a:t>
                      </a:r>
                    </a:p>
                    <a:p>
                      <a:r>
                        <a:rPr sz="1400"/>
                        <a:t>pds.ack_cc_state in ACK_CC is always 64 bits, so 24 bits of reserved</a:t>
                      </a:r>
                    </a:p>
                    <a:p>
                      <a:r>
                        <a:rPr sz="1400"/>
                        <a:t>padding are added between credit and ooo_count.</a:t>
                      </a:r>
                    </a:p>
                    <a:p/>
                    <a:p>
                      <a:r>
                        <a:rPr sz="1400"/>
                        <a:t>Used with TFC (Traffic Flow Control) and RCCC (Rate-Based Congestion</a:t>
                      </a:r>
                    </a:p>
                    <a:p>
                      <a:r>
                        <a:rPr sz="1400"/>
                        <a:t>Control) when NSCC is not enabled.</a:t>
                      </a:r>
                    </a:p>
                    <a:p/>
                    <a:p>
                      <a:r>
                        <a:rPr sz="1400"/>
                        <a:t>UE Spec: Table 3-48, mnemonic "CC_CREDIT"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CMS Cc Type Values (3/4)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024"/>
                <a:gridCol w="1796284"/>
                <a:gridCol w="872481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reserved_13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proprietary_14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proprietary extensions.</a:t>
                      </a:r>
                    </a:p>
                    <a:p/>
                    <a:p>
                      <a:r>
                        <a:rPr sz="1400"/>
                        <a:t>Values 14-15 are reserved for vendor-specific congestion control</a:t>
                      </a:r>
                    </a:p>
                    <a:p>
                      <a:r>
                        <a:rPr sz="1400"/>
                        <a:t>algorithms. The format of pds.ack_cc_state when using these values</a:t>
                      </a:r>
                    </a:p>
                    <a:p>
                      <a:r>
                        <a:rPr sz="1400"/>
                        <a:t>is implementation-defined.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CMS Cc Type Values (4/4)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024"/>
                <a:gridCol w="1796284"/>
                <a:gridCol w="872481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proprietary_15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Reserved for proprietary extensions.</a:t>
                      </a:r>
                    </a:p>
                    <a:p/>
                    <a:p>
                      <a:r>
                        <a:rPr sz="1400"/>
                        <a:t>Values 14-15 are reserved for vendor-specific congestion control</a:t>
                      </a:r>
                    </a:p>
                    <a:p>
                      <a:r>
                        <a:rPr sz="1400"/>
                        <a:t>algorithms. The format of pds.ack_cc_state when using these values</a:t>
                      </a:r>
                    </a:p>
                    <a:p>
                      <a:r>
                        <a:rPr sz="1400"/>
                        <a:t>is implementation-defined.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 Cbfc Message Type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/>
                <a:gridCol w="1446058"/>
                <a:gridCol w="899769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 CtlOS message (credit freed updates for 2 VCs)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Protocol State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machine definitions extracted from KSY datamodel files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CCC State Machine States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731"/>
                <a:gridCol w="1019738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has no pending data. All data has been ACKed.</a:t>
                      </a:r>
                    </a:p>
                    <a:p>
                      <a:r>
                        <a:rPr sz="1800"/>
                        <a:t>CCC can be removed when in this state.</a:t>
                      </a:r>
                    </a:p>
                    <a:p/>
                    <a:p>
                      <a:r>
                        <a:rPr sz="1800"/>
                        <a:t>UE Spec: Figure 3-98, IDLE state</a:t>
                      </a:r>
                    </a:p>
                    <a:p>
                      <a:r>
                        <a:rPr sz="1800"/>
                        <a:t>UE Spec: Lines 9162 (IDLE definition)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has data to send but congestion control does not permit sending.</a:t>
                      </a:r>
                    </a:p>
                    <a:p>
                      <a:r>
                        <a:rPr sz="1800"/>
                        <a:t>Waiting for window space (NSCC) or credit (RCCC/TFC).</a:t>
                      </a:r>
                    </a:p>
                    <a:p/>
                    <a:p>
                      <a:r>
                        <a:rPr sz="1800"/>
                        <a:t>UE Spec: Figure 3-98, ACTIVE state</a:t>
                      </a:r>
                    </a:p>
                    <a:p>
                      <a:r>
                        <a:rPr sz="1800"/>
                        <a:t>UE Spec: Lines 9156-9157 (ACTIVE definition)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READY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has data to send and congestion control permits sending.</a:t>
                      </a:r>
                    </a:p>
                    <a:p>
                      <a:r>
                        <a:rPr sz="1800"/>
                        <a:t>Scheduler can select PDCs associated with this CCC.</a:t>
                      </a:r>
                    </a:p>
                    <a:p/>
                    <a:p>
                      <a:r>
                        <a:rPr sz="1800"/>
                        <a:t>UE Spec: Figure 3-98, READY state</a:t>
                      </a:r>
                    </a:p>
                    <a:p>
                      <a:r>
                        <a:rPr sz="1800"/>
                        <a:t>UE Spec: Lines 9157-9160 (READY definition)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CCC State Machine States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731"/>
                <a:gridCol w="1019738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has sent all pending data but waiting for ACKs.</a:t>
                      </a:r>
                    </a:p>
                    <a:p>
                      <a:r>
                        <a:rPr sz="1800"/>
                        <a:t>No new data to send, but data is in flight.</a:t>
                      </a:r>
                    </a:p>
                    <a:p/>
                    <a:p>
                      <a:r>
                        <a:rPr sz="1800"/>
                        <a:t>UE Spec: Figure 3-98, PENDING state</a:t>
                      </a:r>
                    </a:p>
                    <a:p>
                      <a:r>
                        <a:rPr sz="1800"/>
                        <a:t>UE Spec: Lines 9161-9164 (PENDING definition)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CCC State Machine Transitions </a:t>
            </a:r>
            <a:r>
              <a:rPr sz="2000"/>
              <a:t>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032"/>
                <a:gridCol w="696032"/>
                <a:gridCol w="2660260"/>
                <a:gridCol w="4594994"/>
                <a:gridCol w="259979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From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Trigger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Action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new data arrives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New data posted to any PDC associated with CCC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becomes active</a:t>
                      </a:r>
                    </a:p>
                    <a:p>
                      <a:r>
                        <a:rPr sz="1800"/>
                        <a:t>Check if congestion control permits sending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READY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 control permits sending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(NSCC: cwnd has space) || (RCCC/TFC: credit available)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ready for scheduling</a:t>
                      </a:r>
                    </a:p>
                    <a:p>
                      <a:r>
                        <a:rPr sz="1800"/>
                        <a:t>PDCs can be selected for transmission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data to send, last retransmit ACKed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new data &amp;&amp; no packets marked for retransmission &amp;&amp; last retransmit ACKed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pending work sent</a:t>
                      </a:r>
                    </a:p>
                    <a:p>
                      <a:r>
                        <a:rPr sz="1800"/>
                        <a:t>Wait for ACKs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READY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READY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sent but more to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transmitted &amp;&amp; more data pending &amp;&amp; CC permits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Continue in READY state</a:t>
                      </a:r>
                    </a:p>
                    <a:p>
                      <a:r>
                        <a:rPr sz="1800"/>
                        <a:t>Scheduler can select more PDCs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READY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 control no longer permits sending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(NSCC: cwnd exhausted) || (RCCC/TFC: credit exhausted)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Wait for ACKs to free window/credit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CCC State Machine Transitions </a:t>
            </a:r>
            <a:r>
              <a:rPr sz="2000"/>
              <a:t>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032"/>
                <a:gridCol w="696032"/>
                <a:gridCol w="2660260"/>
                <a:gridCol w="4594994"/>
                <a:gridCol w="259979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From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Trigger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Action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READY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data sent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more new data &amp;&amp; no packets marked for retransmission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pending work sent</a:t>
                      </a:r>
                    </a:p>
                    <a:p>
                      <a:r>
                        <a:rPr sz="1800"/>
                        <a:t>Wait for ACKs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data ACKed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data on all PDCs associated with CCC has been ACKed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 can be removed</a:t>
                      </a:r>
                    </a:p>
                    <a:p>
                      <a:r>
                        <a:rPr sz="1800"/>
                        <a:t>No pending work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PENDING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retransmission needed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NACK received || loss inferred from SACK || RTO expired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Mark packet for retransmission</a:t>
                      </a:r>
                    </a:p>
                    <a:p>
                      <a:r>
                        <a:rPr sz="1800"/>
                        <a:t>Check if CC permits sending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VC State Machine States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7714"/>
                <a:gridCol w="759940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DISABLED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DISABLED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INITIALIZING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INITIALIZING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ACTIVE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REMOVING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REMOVING state (terminal)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VC State Machine Transitions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/>
                <a:gridCol w="2595489"/>
                <a:gridCol w="1514035"/>
                <a:gridCol w="1946616"/>
                <a:gridCol w="346065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From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Trigger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Action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DISABLED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Begin processing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Transmit State Machine States </a:t>
            </a:r>
            <a:r>
              <a:rPr sz="2000"/>
              <a:t>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LLR_OFF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is disabled. TX LLR uses BEST_EFFORT style for LLR-desired frames.</a:t>
                      </a:r>
                    </a:p>
                    <a:p>
                      <a:r>
                        <a:rPr sz="1800"/>
                        <a:t>No LLR processing occurs.</a:t>
                      </a:r>
                    </a:p>
                    <a:p/>
                    <a:p>
                      <a:r>
                        <a:rPr sz="1800"/>
                        <a:t>UE Spec: Figure 5-3, LLR_OFF state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initialization state. Sends LLR_INIT CtlOS periodically.</a:t>
                      </a:r>
                    </a:p>
                    <a:p>
                      <a:r>
                        <a:rPr sz="1800"/>
                        <a:t>Waits for LLR_INIT_ECHO from link partner.</a:t>
                      </a:r>
                    </a:p>
                    <a:p/>
                    <a:p>
                      <a:r>
                        <a:rPr sz="1800"/>
                        <a:t>UE Spec: Figure 5-3, INIT state</a:t>
                      </a:r>
                    </a:p>
                    <a:p>
                      <a:r>
                        <a:rPr sz="1800"/>
                        <a:t>UE Spec: Section 5.1.9.1.1 (LLR_INIT CtlOS)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Normal operation state. Accepts new LLR-desired frames.</a:t>
                      </a:r>
                    </a:p>
                    <a:p>
                      <a:r>
                        <a:rPr sz="1800"/>
                        <a:t>Transmits frames and manages replay buffer.</a:t>
                      </a:r>
                    </a:p>
                    <a:p/>
                    <a:p>
                      <a:r>
                        <a:rPr sz="1800"/>
                        <a:t>UE Spec: Figure 5-3, ADVANCE state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Transmit State Machine States </a:t>
            </a:r>
            <a:r>
              <a:rPr sz="2000"/>
              <a:t>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REPLAY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Replay state. Retransmits frames from replay buffer.</a:t>
                      </a:r>
                    </a:p>
                    <a:p>
                      <a:r>
                        <a:rPr sz="1800"/>
                        <a:t>Entered on NACK reception or replay_timer expiry.</a:t>
                      </a:r>
                    </a:p>
                    <a:p/>
                    <a:p>
                      <a:r>
                        <a:rPr sz="1800"/>
                        <a:t>UE Spec: Figure 5-3, REPLAY state</a:t>
                      </a:r>
                    </a:p>
                    <a:p>
                      <a:r>
                        <a:rPr sz="1800"/>
                        <a:t>UE Spec: Lines 12296 (NACK triggers REPLAY)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FLUSH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Flush state. Discards all frames in replay buffer.</a:t>
                      </a:r>
                    </a:p>
                    <a:p>
                      <a:r>
                        <a:rPr sz="1800"/>
                        <a:t>Entered when replay_ct reaches replay_ct_max.</a:t>
                      </a:r>
                    </a:p>
                    <a:p/>
                    <a:p>
                      <a:r>
                        <a:rPr sz="1800"/>
                        <a:t>UE Spec: Figure 5-3, FLUSH state</a:t>
                      </a:r>
                    </a:p>
                    <a:p>
                      <a:r>
                        <a:rPr sz="1800"/>
                        <a:t>UE Spec: Lines 12298-12300 (FLUSH behavior)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Transmit State Machine Transitions </a:t>
            </a:r>
            <a:r>
              <a:rPr sz="2000"/>
              <a:t>(1/3)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31"/>
                <a:gridCol w="696631"/>
                <a:gridCol w="2937795"/>
                <a:gridCol w="4773918"/>
                <a:gridCol w="2142142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From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Trigger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Action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LLR_OFF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set to 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== 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Initialize tx_seq</a:t>
                      </a:r>
                    </a:p>
                    <a:p>
                      <a:r>
                        <a:rPr sz="1600"/>
                        <a:t>Set last_ack_seq = init_seq - 1</a:t>
                      </a:r>
                    </a:p>
                    <a:p>
                      <a:r>
                        <a:rPr sz="1600"/>
                        <a:t>Start sending LLR_INIT CtlOS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init_echo_received pulse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LLR_INIT_ECHO received with init_seq == tx_seq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 initialization complete</a:t>
                      </a:r>
                    </a:p>
                    <a:p>
                      <a:r>
                        <a:rPr sz="1600"/>
                        <a:t>Begin normal frame transmission</a:t>
                      </a:r>
                    </a:p>
                    <a:p>
                      <a:r>
                        <a:rPr sz="1600"/>
                        <a:t>Start replay_timer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set to 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== 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Disable LLR</a:t>
                      </a:r>
                    </a:p>
                    <a:p>
                      <a:r>
                        <a:rPr sz="1600"/>
                        <a:t>Clear replay buffer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Transmit State Machine Transitions </a:t>
            </a:r>
            <a:r>
              <a:rPr sz="2000"/>
              <a:t>(2/3)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31"/>
                <a:gridCol w="696631"/>
                <a:gridCol w="2937795"/>
                <a:gridCol w="4773918"/>
                <a:gridCol w="2142142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From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Trigger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Action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REPLAY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nack_received or replay_timer expiry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(nack_received == TRUE) || (replay_timer expired &amp;&amp; replay_ct &lt; replay_ct_max)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 current frame transmission</a:t>
                      </a:r>
                    </a:p>
                    <a:p>
                      <a:r>
                        <a:rPr sz="1600"/>
                        <a:t>Set nack_received = FALSE</a:t>
                      </a:r>
                    </a:p>
                    <a:p>
                      <a:r>
                        <a:rPr sz="1600"/>
                        <a:t>Set replay_ct = 0</a:t>
                      </a:r>
                    </a:p>
                    <a:p>
                      <a:r>
                        <a:rPr sz="1600"/>
                        <a:t>Begin replay from replay buffer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FLUSH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replay_timer expiry with max retries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replay_timer expired &amp;&amp; replay_ct == replay_ct_max &amp;&amp; replay_ct_max != 255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Enter FLUSH state</a:t>
                      </a:r>
                    </a:p>
                    <a:p>
                      <a:r>
                        <a:rPr sz="1600"/>
                        <a:t>Prepare to discard replay buffer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FLUSH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pcs_lost_status_timer expiry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pcs_lost_status_timer expired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lost, enter FLUSH state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set to 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== 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Disable LLR</a:t>
                      </a:r>
                    </a:p>
                    <a:p>
                      <a:r>
                        <a:rPr sz="1600"/>
                        <a:t>Clear replay buffer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Transmit State Machine Transitions </a:t>
            </a:r>
            <a:r>
              <a:rPr sz="2000"/>
              <a:t>(3/3)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31"/>
                <a:gridCol w="696631"/>
                <a:gridCol w="2937795"/>
                <a:gridCol w="4773918"/>
                <a:gridCol w="2142142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From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Trigger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Action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REPLAY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ADVANCE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replay 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All frames in replay buffer retransmitted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Increment replay_ct</a:t>
                      </a:r>
                    </a:p>
                    <a:p>
                      <a:r>
                        <a:rPr sz="1600"/>
                        <a:t>Resume normal operation</a:t>
                      </a:r>
                    </a:p>
                    <a:p>
                      <a:r>
                        <a:rPr sz="1600"/>
                        <a:t>Restart replay_timer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REPLAY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FLUSH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pcs_lost_status_timer expiry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pcs_lost_status_timer expired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lost during replay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REPLAY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set to 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== 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Disable LLR</a:t>
                      </a:r>
                    </a:p>
                    <a:p>
                      <a:r>
                        <a:rPr sz="1600"/>
                        <a:t>Clear replay buffer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FLUSH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re_init_on_discard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re_init_on_discard == TRUE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Reinitialize LLR</a:t>
                      </a:r>
                    </a:p>
                    <a:p>
                      <a:r>
                        <a:rPr sz="1600"/>
                        <a:t>Start sending LLR_INIT CtlOS</a:t>
                      </a:r>
                    </a:p>
                    <a:p/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FLUSH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LLR_OFF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set to OFF or !re_init_on_discard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llr_mode_local == OFF || re_init_on_discard == FALSE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Disable LLR or stay off</a:t>
                      </a:r>
                    </a:p>
                    <a:p/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Packet Delivery Sublayer Format Definitions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Wire Formats (14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04"/>
                <a:gridCol w="2021663"/>
                <a:gridCol w="3610114"/>
                <a:gridCol w="713804"/>
                <a:gridCol w="4187732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Reliable Unordered Delivery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Reliable Ordered Delivery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rudi_request_response.ksy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Reliable Unordered Immediate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rudi_request_response.ksy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response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Unreliable Unordered Delivery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Acknowledgment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with CC state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with extended CC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Negative acknowledgment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Control packet (10 subtypes)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with extended CC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RUD_CC_REQ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with CC state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0x0E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ROD_CC_REQ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with CC state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Prologue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prologue.ksy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header prologue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ECMP entropy (non-UDP)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Default 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rud_rod_default_ses.ksy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Default SES response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Codes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reason codes enum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PDS Protocol State Machines </a:t>
            </a:r>
            <a:r>
              <a:rPr sz="2000"/>
              <a:t>(16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273"/>
                <a:gridCol w="3460652"/>
                <a:gridCol w="1853920"/>
                <a:gridCol w="2966273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Establishment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pdc_establishment.ksy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setup handshake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Close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pdc_close.ksy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teardown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Initiator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pdc_initiator.ksy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Initiator state machine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PDC Target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pdc_target.ksy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Target state machine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 Manager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pds_manager.ksy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management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RUD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3.5.10.3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delivery protocol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ROD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3.5.10.3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delivery protocol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RUDI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3.5.10.9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delivery protocol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CACK/SACK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loss_detection_cack_sack.ksy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Cumulative/Selective ACK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EV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loss_detection_ev.ksy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Early validation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NACK-based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OOO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loss_detection_ooo.ksy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Out-of-order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Receiver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loss_detection_receiver.ksy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Receiver-side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RTO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loss_detection_rto.ksy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Retransmit timeout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Tail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loss_detection_tail.ksy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Tail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Loss Detection Trimming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3.5.11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Trimmed packet detection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Semantic Sublayer Format Definitions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Wire Formats (15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059"/>
                <a:gridCol w="2725414"/>
                <a:gridCol w="3964239"/>
                <a:gridCol w="717108"/>
                <a:gridCol w="2849297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next_hdr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Request SOM=1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Start of message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Request SOM=0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standard_request_som0.ksy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Continuation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Non-Matching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optimized_non_matching.ksy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RMA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small_message.ksy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Single-packet optimized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 operations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 with 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Data-carrying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0x6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optimized_response_with_data.ksy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Optimized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Large message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operations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Compare-and-swap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deferrable_send_request.ksy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send request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Ready to Restart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ready_to_restart.ksy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RTR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Opcodes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opcodes.ksy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SES opcode definitions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Next Header Types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next_header_types.ksy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type enum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Message Sequences </a:t>
            </a:r>
            <a:r>
              <a:rPr sz="2000"/>
              <a:t>(12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740"/>
                <a:gridCol w="3559215"/>
                <a:gridCol w="4698164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Single Packet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Single-packet message flow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Multi Packet 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Multi-packet message flow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Read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read_standard.ksy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 RDMA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Read Large 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read_large_ack.ksy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Large read with ACK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Rendezvous 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 with posted receive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Rendezvous Unexpected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Rendezvous without posted receive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with buffer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Unexpected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without buffer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No Buffer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deferrable_no_buffer.ksy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RTR flow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Buffered Messages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buffered_messages.ksy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Message buffering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Buffered Headers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buffered_headers.ksy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buffering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Backoff Retry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backoff_retry.ksy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Retry with backoff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Congestion Management Sublayer Format Definitions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CMS Wire Formats 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1933"/>
                <a:gridCol w="4181186"/>
                <a:gridCol w="722066"/>
                <a:gridCol w="317193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 CC State NSCC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ack_cc_state_nscc.ksy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 congestion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 CC State RCCC/TFC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ack_cc_state_rccc_tfc.ksy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Credit-based CC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Request CC 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req_cc_state.ksy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CC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Credit CP 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control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Credit Request 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credit_request_cp_payload.ksy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request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 algorithm type enum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CCX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ccx_type.ksy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Extended CC type enum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CMS Protocol State Machines </a:t>
            </a:r>
            <a:r>
              <a:rPr sz="2000"/>
              <a:t>(8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641"/>
                <a:gridCol w="3116671"/>
                <a:gridCol w="2032612"/>
                <a:gridCol w="35231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 Control Context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NSCC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3.6.13.3-6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 source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NSCC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3.6.13.9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NSCC destination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3.6.14.2-4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 source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3.6.14.6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RCCC destination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TFC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 source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TFC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TFC destination algorithm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Multipath Selection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multipath_selection.ksy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3.6.16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ECMP path selection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TSS 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Transport Security Sublayer Format Definitions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TSS Wire Formats 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/>
                <a:gridCol w="3287619"/>
                <a:gridCol w="1038195"/>
                <a:gridCol w="432581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security_header.ksy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AES-GCM encryption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IV Construction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iv_construction.ksy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Initialization vector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TSS Protocol State Machines </a:t>
            </a:r>
            <a:r>
              <a:rPr sz="2000"/>
              <a:t>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791"/>
                <a:gridCol w="3255745"/>
                <a:gridCol w="2219826"/>
                <a:gridCol w="310775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TSS TX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tss_tx_processing.ksy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Transmit encryption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TSS RX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tss_rx_processing.ksy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Receive decryption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Key Rotation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rotation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Join Secure Domain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join_secure_domain.ksy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Domain join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KDF Direct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kdf_direct.ksy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Direct key derivation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KDF Client Server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kdf_client_server.ksy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Client-server KDF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KDF Cluster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kdf_cluster.ksy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3.7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Cluster KDF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Layer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LLR, CBFC, and LLDP Format Definitions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LLR Wire Formats (6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901"/>
                <a:gridCol w="2452829"/>
                <a:gridCol w="3525942"/>
                <a:gridCol w="717901"/>
                <a:gridCol w="383254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Frame acknowledgment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Negative acknowledgment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Initialize sequence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Confirm initialization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Preamble MII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llr_preamble_mii.ksy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MII preamble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Preamble 64B/66B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llr_preamble_64b66b.ksy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64B/66B preamble format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 Protocol State Machines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295"/>
                <a:gridCol w="3460652"/>
                <a:gridCol w="2162907"/>
                <a:gridCol w="317226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Transmit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 Receive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llr_receive.ksy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Receive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ACK/NACK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ack_nack_transmit_sm.ksy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generation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 Wire Formats 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616"/>
                <a:gridCol w="2811780"/>
                <a:gridCol w="865163"/>
                <a:gridCol w="56235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CF_Update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freed (CtlOS)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CC_Update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consumed (Ethernet)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CBFC Protocol State Machines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641"/>
                <a:gridCol w="3116671"/>
                <a:gridCol w="2032612"/>
                <a:gridCol w="35231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 Spec Section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Virtual channel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Lossless VC 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lossless_vc_init.ksy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initialization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lossless_vc_removal.ksy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LLDP TLV Formats 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/>
                <a:gridCol w="4217670"/>
                <a:gridCol w="390524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 Negotiation TLV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ue_link_negotiation_tlv.ksy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LLR/CBFC enable flags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 TLV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ue_cbfc_tlv.ksy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 configuration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 Negotiation SM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Negotiation state machine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and Physical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Network Formats and Physical Layer Definitions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Network Layer Formats </a:t>
            </a:r>
            <a:r>
              <a:rPr sz="2000"/>
              <a:t>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768"/>
                <a:gridCol w="3749039"/>
                <a:gridCol w="453831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DSCP Categories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dscp_categories.ksy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 category mappings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Packet Trimming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Trimming mechanism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 16-bit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ufh_16.ksy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16-bit UE Fabric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 32-bit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ufh_32.ksy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32-bit UE Fabric Header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 Layer Formats </a:t>
            </a:r>
            <a:r>
              <a:rPr sz="2000"/>
              <a:t>(1 file)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218"/>
                <a:gridCol w="4089861"/>
                <a:gridCol w="374903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 Ordered Sets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64B/66B CtlOS encoding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PDS 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 Modes and Response Types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Delivery Modes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/>
                <a:gridCol w="1807572"/>
                <a:gridCol w="2209255"/>
                <a:gridCol w="1807572"/>
                <a:gridCol w="461935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Mode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Reliability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Ordering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General RDMA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Streaming, multi-packet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0x04/0x05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Idempotent operations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Unreliable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Unordered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Best-effort traffic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PDS Request/Response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306"/>
                <a:gridCol w="2851382"/>
                <a:gridCol w="673243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Request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Possible Responses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Request (0x01)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ACK, ACK_CC, ACK_CCX, NACK, 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rud_rod_ack.ksy, ack_cc.ksy, ack_ccx.ksy, nack.ksy, nack_ccx.ksy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ROD Request (0x02)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ACK, ACK_CC, ACK_CCX, NACK, 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rud_rod_ack.ksy, ack_cc.ksy, ack_ccx.ksy, nack.ksy, nack_ccx.ksy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 Request (0x04)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 Response, 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rudi_request_response.ksy, nack.ksy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UUD Request (0x06)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(no response)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uud_request.ksy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 Packet (0x0B)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(varies by subtype)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rud_rod_cp.ksy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Control Packet Subtypes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41"/>
                <a:gridCol w="2539672"/>
                <a:gridCol w="1632646"/>
                <a:gridCol w="56235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ctl_type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Direction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NOOP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Either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operation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Src-&gt;Dst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ACK for specific PSN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CLEAR_COMMAND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Init-&gt;Tgt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Clear guaranteed delivery state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CLEAR_REQUEST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Tgt-&gt;Init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initiator to send clear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CLOSE_COMMAND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Init-&gt;Tgt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 is being closed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CLOSE_REQUEST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Tgt-&gt;Init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initiator to close PDC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PROBE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Src-&gt;Dst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PDS ACK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Dst-&gt;Src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Carry CC credit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Src-&gt;Dst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credit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NEGOTIATION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Either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PDC negotiation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 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Operation Types and Header Formats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Request Opcodes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791"/>
                <a:gridCol w="739942"/>
                <a:gridCol w="3995687"/>
                <a:gridCol w="3847698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Opcode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Tagged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Send with tag matching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RMA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Remote memory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RMA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Remote memory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memory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memory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 CAS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Compare-and-swap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Deferrable 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deferrable_send_request.ksy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Deferrable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Ready to Restart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ready_to_restart.ksy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Restart notification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small_message.ksy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message (32B header)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RMA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RMA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RMA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Atomic Write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atomic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Atomic Read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atomic read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Small Atomic CAS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Small atomic CAS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SES Response Opcodes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056"/>
                <a:gridCol w="730834"/>
                <a:gridCol w="4609878"/>
                <a:gridCol w="331335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Opcode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Response with 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 carrying data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Optimized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optimized_response_with_data.ksy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Optimized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Negative acknowledgment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Packet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Wire Format Diagrams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+-------+-------+-------+-------+-------+-------+-------+-------+</a:t>
            </a:r>
          </a:p>
          <a:p>
            <a:r>
              <a:rPr sz="1200">
                <a:latin typeface="Consolas"/>
              </a:rPr>
              <a:t>| Byte 0                        | Byte 1                        |</a:t>
            </a:r>
          </a:p>
          <a:p>
            <a:r>
              <a:rPr sz="1200">
                <a:latin typeface="Consolas"/>
              </a:rPr>
              <a:t>+-------+-------+-------+-------+-------+-------+-------+-------+</a:t>
            </a:r>
          </a:p>
          <a:p>
            <a:r>
              <a:rPr sz="1200">
                <a:latin typeface="Consolas"/>
              </a:rPr>
              <a:t>| type[4:0] | next_hdr/ctl[3:0] | flags[6:0]                    |</a:t>
            </a:r>
          </a:p>
          <a:p>
            <a:r>
              <a:rPr sz="1200">
                <a:latin typeface="Consolas"/>
              </a:rPr>
              <a:t>+-------+-------+-------+-------+-------+-------+-------+-------+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PDS Prologue (2 bytes) - prologue.ksy (text)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|type |nxt|flg|       clear_psn_offset |         PSN [31:0]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>
            <a:r>
              <a:rPr sz="1200">
                <a:latin typeface="Consolas"/>
              </a:rPr>
              <a:t>   -&gt; |    spdcid     |    dpdcid     |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RUD/ROD Request (12 bytes) - rud_rod_request.ksy (text)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                  ACK Header (12 bytes)          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8       9      10      11      12      13      14      15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(ACK cont'd) |cc_typ|cc_flg|  mpr  | sack_psn_offset   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16      17      18      19      20      21      22      23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            sack_bitmap [63:0]                   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24      25      26      27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>
            <a:r>
              <a:rPr sz="1200">
                <a:latin typeface="Consolas"/>
              </a:rPr>
              <a:t>     |       ack_cc_state [63:0]     |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ACK_CC (28 bytes) - ack_cc.ksy (text)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|rs|opcode |v|dc|ie|rl|hd|eo|so|    message_id     | ri_gen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8       9      10      11      12      13      14      15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    job_id [23:0]    |rsvd|pid_on_fep |rsvd| resource_idx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16      17      18      19      20      21      22      23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                  buffer_offset [63:0]           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24      25      26      27      28      29      30      31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      initiator [31:0]       |   match_bits / memory_key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32      33      34      35      36      37      38      39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-&gt; |  (match_bits cont'd) [63:0]   |       header_data [63:0]     -&gt;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40      41      42      43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>
            <a:r>
              <a:rPr sz="1200">
                <a:latin typeface="Consolas"/>
              </a:rPr>
              <a:t>   -&gt; | (hdr_data)    | request_length|</a:t>
            </a:r>
          </a:p>
          <a:p>
            <a:r>
              <a:rPr sz="1200">
                <a:latin typeface="Consolas"/>
              </a:rPr>
              <a:t>     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 Standard Request SOM=1 (44 bytes) - standard_request_som1.ksy (text)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|type|sp|r|an|         sdi [23:0]        |      ssi [31:0]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  8       9      10      11      12      13      14      15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                       tsc [63:0]                             |</a:t>
            </a:r>
          </a:p>
          <a:p>
            <a:r>
              <a:rPr sz="1200">
                <a:latin typeface="Consolas"/>
              </a:rPr>
              <a:t>     |              epoch [15:0]  |        counter [47:0]     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TSS Security Header (16 bytes, sp=1) - security_header.ksy (text)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64B/66B Block (Sync Header = 2'b10):</a:t>
            </a:r>
          </a:p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0x4B  | 0x01  |ack_nack_seq   |seq_lo |  Rsvd |  Rsvd |  Rsvd |</a:t>
            </a:r>
          </a:p>
          <a:p>
            <a:r>
              <a:rPr sz="1200">
                <a:latin typeface="Consolas"/>
              </a:rPr>
              <a:t>     | (BTF) | (ACK) | [19:12]|[11:4]|+O-code|       |       |       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D0      D1      D2      D3      D4      D5      D6      D7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LLR_ACK CtlOS (8 bytes) - llr_ack_ctlos.ksy (text)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64B/66B Block (Sync Header = 2'b10):</a:t>
            </a:r>
          </a:p>
          <a:p>
            <a:r>
              <a:rPr sz="1200">
                <a:latin typeface="Consolas"/>
              </a:rPr>
              <a:t>Byte:    0       1       2       3       4       5       6       7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| 0x5C  | 0x10  |CF1_VC |CF1_cnt|CF1_cnt|CF2_VC |CF2_cnt|CF2_cnt|</a:t>
            </a:r>
          </a:p>
          <a:p>
            <a:r>
              <a:rPr sz="1200">
                <a:latin typeface="Consolas"/>
              </a:rPr>
              <a:t>     | (Ctrl)| (Type)|+cnt_hi| [10:3]|lo+Ocd |+cnt_hi| [10:3]|lo+Rsvd|</a:t>
            </a:r>
          </a:p>
          <a:p>
            <a:r>
              <a:rPr sz="1200">
                <a:latin typeface="Consolas"/>
              </a:rPr>
              <a:t>     +-------+-------+-------+-------+-------+-------+-------+-------+</a:t>
            </a:r>
          </a:p>
          <a:p>
            <a:r>
              <a:rPr sz="1200">
                <a:latin typeface="Consolas"/>
              </a:rPr>
              <a:t>       D0      D1      D2      D3      D4      D5      D6      D7</a:t>
            </a:r>
          </a:p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CF_Update CtlOS (8 bytes) - cf_update.ksy (text)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Machines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38 Protocol State Machines Across All Sublayers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Transport Layer State Machines </a:t>
            </a:r>
            <a:r>
              <a:rPr sz="2000"/>
              <a:t>(31 files)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562"/>
                <a:gridCol w="2620688"/>
                <a:gridCol w="3057469"/>
                <a:gridCol w="4695399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Establishment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pdc_establishment.ksy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SYN_SENT, SYN_RCVD, ESTABLISHED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Close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pdc_close.ksy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ESTABLISHED, CLOSE_WAIT, LAST_ACK, CLOSED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Initiator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pdc_initiator.ksy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CONNECTING, CONNECTED, CLOSING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Target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pdc_target.ksy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LISTENING, CONNECTED, CLOSING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Manager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pds_manager.ksy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ACTIVE, SHUTDOWN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SENDING, WAITING_ACK,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SENDING, WAITING_ACK,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SENDING, WAITING_RESPONSE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CACK/SACK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loss_detection_cack_sack.ksy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DETECT, RETRANSMIT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EV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loss_detection_ev.ksy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VALIDATE, SIGNAL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NACK_RCVD, RETRANSMIT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OOO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loss_detection_ooo.ksy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OOO_DETECT, SIGNAL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Receiver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loss_detection_receiver.ksy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GAP_DETECT, NACK_SEND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RTO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loss_detection_rto.ksy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TIMER_RUNNING, TIMEOUT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Tail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loss_detection_tail.ksy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TAIL_DETECT, PROBE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 Detection Trimming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MONITOR, TRIM_DETECT, RETRANSMIT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ccc_state_machine.ksy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ACTIVE, READY, PENDING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SLOW_START, CONG_AVOID, FAST_RECOVERY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Transport Layer State Machines </a:t>
            </a:r>
            <a:r>
              <a:rPr sz="2000"/>
              <a:t>(31 files)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562"/>
                <a:gridCol w="2620688"/>
                <a:gridCol w="3057469"/>
                <a:gridCol w="4695399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nscc_destination.ksy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MONITOR, SIGNAL_CONGESTION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RATE_CONTROL, BACKOFF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rccc_destination.ksy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MONITOR_BUFFER, REQUEST_REDUCTION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 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FLOW_CONTROL, THROTTLE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 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tfc_destination.ksy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MONITOR, SIGNAL_THROTTLE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Multipath Selection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multipath_selection.ksy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SELECT_PATH, MONITOR_PATHS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 TX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tss_tx_processing.ksy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ENCRYPT, SEND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 RX Processing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tss_rx_processing.ksy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IDLE, DECRYPT, VALIDATE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Key Rotation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ACTIVE, ROTATING,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Join Secure Domain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join_secure_domain.ksy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JOINING, JOINED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 Direct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kdf_direct.ksy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DERIVE,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 Client Server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kdf_client_server.ksy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REQUEST, RECEIVE, COMPLETE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 Cluster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kdf_cluster.ksy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INIT, DISTRIBUTE, COMPLETE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 Layer State Machines </a:t>
            </a:r>
            <a:r>
              <a:rPr sz="2000"/>
              <a:t>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217"/>
                <a:gridCol w="2456267"/>
                <a:gridCol w="3102653"/>
                <a:gridCol w="465398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TRANSMIT, WAIT_ACK, RETRANSMIT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Receive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llr_receive.ksy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RECEIVE, VALIDATE, DELIVER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Transmit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ack_nack_transmit_sm.ksy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GENERATE,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INIT, ACTIVE, PAUSED, SHUTDOWN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lossless_vc_init.ksy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INIT, NEGOTIATE, ACTIVE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lossless_vc_removal.ksy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ACTIVE, DRAINING, REMOVED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Negotiation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INIT, NEGOTIATE, COMPLETE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Packet Size Analysis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Minimum Header Sizes by Delivery Mode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077"/>
                <a:gridCol w="1071154"/>
                <a:gridCol w="1178269"/>
                <a:gridCol w="1499616"/>
                <a:gridCol w="557000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Delivery Mode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PDS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(standard)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standard_request_som1.ksy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(continuation)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 (SOM=0)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standard_request_som0.ksy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(small msg)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rud_rod_request.ksy, small_message.ksy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 with 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rud_rod_request_cc.ksy, standard_request_som1.ksy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rudi_request_response.ksy, standard_request_som1.ksy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 (SOM=1)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uud_request.ksy, standard_request_som1.ksy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Response Header Sizes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343"/>
                <a:gridCol w="1348601"/>
                <a:gridCol w="1348601"/>
                <a:gridCol w="728025"/>
                <a:gridCol w="525954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Response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PDS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SES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rud_rod_ack.ksy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ACK_CC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nack.ksy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NACK_CCX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nack_ccx.ksy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SES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rud_rod_ack.ksy, response.ksy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SES Response w/Data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rud_rod_ack.ksy, response_with_data.ksy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RUDI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rudi_request_response.ksy, response.ksy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Datamodel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103 UE KSY Files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transport/pds/ </a:t>
            </a:r>
            <a:r>
              <a:rPr sz="2000"/>
              <a:t>(30 files)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39"/>
                <a:gridCol w="4700288"/>
                <a:gridCol w="520389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prologue.ksy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header prologue (2B)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RUD/ROD request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rud_rod_request_cc.ksy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RUD/ROD request with CC (28B)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rudi_request_response.ksy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request/response (6B)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UUD request (6B)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 (28B)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ACK_CCX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NACK_CCX (28B)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reason codes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Control packet (12B)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Entropy header (4B)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rud_rod_default_ses.ksy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Default SES response (8B)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pdc_establishment.ksy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establishment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pdc_close.ksy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close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pdc_initiator.ksy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initiator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pdc_target.ksy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PDC target SM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transport/pds/ </a:t>
            </a:r>
            <a:r>
              <a:rPr sz="2000"/>
              <a:t>(30 files)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39"/>
                <a:gridCol w="4700288"/>
                <a:gridCol w="5203891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pds_manager.ksy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PDS manager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 delivery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ROD delivery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rudi_delivery.ksy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RUDI delivery SM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loss_detection_cack_sack.ksy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CACK/SACK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loss_detection_ev.ksy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Early validation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loss_detection_nack.ksy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NACK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loss_detection_ooo.ksy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OOO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loss_detection_receiver.ksy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Receiver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loss_detection_rto.ksy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RTO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loss_detection_tail.ksy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Tail loss detection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loss_detection_trimming.ksy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Trimming loss detection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transport/ses/ </a:t>
            </a:r>
            <a:r>
              <a:rPr sz="2000"/>
              <a:t>(27 files)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190"/>
                <a:gridCol w="5292762"/>
                <a:gridCol w="4631167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standard_request_som1.ksy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 request SOM=1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standard_request_som0.ksy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 request SOM=0 (16B)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optimized_non_matching.ksy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 non-matching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small_message.ksy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 message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small_rma.ksy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Small RMA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 (16B)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Response with data (24B)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optimized_response_with_data.ksy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Optimized response (16B)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 extension (32B)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 extension (8B)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cas_extension.ksy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 extension (40B)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deferrable_send_request.ksy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send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ready_to_restart.ksy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Ready to restart (44B)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SES opcodes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next_header_types.ksy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Next header types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single_packet_request.ksy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Single packet request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multi_packet_request.ksy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Multi packet request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read_standard.ksy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Standard read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transport/ses/ </a:t>
            </a:r>
            <a:r>
              <a:rPr sz="2000"/>
              <a:t>(27 files)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190"/>
                <a:gridCol w="5292762"/>
                <a:gridCol w="4631167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read_large_ack.ksy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Large read with ACK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 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Rendezvous unexpected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deferrable_unexpected.ksy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unexpected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deferrable_no_buffer.ksy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Deferrable no buffer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 messages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buffered_headers.ksy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Buffered headers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Sequence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backoff_retry.ksy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Backoff retry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transport/cms/ (15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033"/>
                <a:gridCol w="5528245"/>
                <a:gridCol w="4193841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ack_cc_state_nscc.ksy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 CC state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ack_cc_state_rccc_tfc.ksy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RCCC/TFC CC state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req_cc_state.ksy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Request CC state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 CP payload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credit_request_cp_payload.ksy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 request payload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 type enum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ccx_type.ksy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CCX type enum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CCC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 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NSCC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 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RCCC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tfc_source.ksy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 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tfc_destination.ksy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TFC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multipath_selection.ksy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Multipath selection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transport/tss/ (9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240"/>
                <a:gridCol w="4582160"/>
                <a:gridCol w="499872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security_header.ksy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Security header (12-16B)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iv_construction.ksy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IV construction (12B)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tss_tx_processing.ksy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TX processing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tss_rx_processing.ksy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RX processing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rotation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join_secure_domain.ksy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Join secure domain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kdf_direct.ksy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direct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kdf_client_server.ksy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client-server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kdf_cluster.ksy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cluster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link/llr/ (9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543"/>
                <a:gridCol w="4735629"/>
                <a:gridCol w="493294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LLR_ACK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LLR_NACK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llr_init_echo_ctlos.ksy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LLR_INIT_ECHO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llr_preamble_mii.ksy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preamble MII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llr_preamble_64b66b.ksy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preamble 64B/66B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transmit SM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llr_receive.ksy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LLR receive SM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ack_nack_transmit_sm.ksy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transmit SM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link/cbfc/ (5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678"/>
                <a:gridCol w="4880825"/>
                <a:gridCol w="466861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CF_Update CtlOS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cc_update.ksy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CC_Update message (8B)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VC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lossless_vc_init.ksy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init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lossless_vc_removal.ksy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Lossless VC removal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link/lldp/ 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944"/>
                <a:gridCol w="5521313"/>
                <a:gridCol w="408986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ue_link_negotiation_tlv.ksy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negotiation TLV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ue_cbfc_tlv.ksy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CBFC TLV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negotiation SM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network/ 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308"/>
                <a:gridCol w="5087982"/>
                <a:gridCol w="401682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dscp_categories.ksy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DSCP categories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packet_trimming.ksy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 trimming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ufh_16.ksy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 16-bit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ufh_32.ksy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 32-bit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physical/ (1 file)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/>
                <a:gridCol w="5190978"/>
                <a:gridCol w="432581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Ordered Sets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Header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Field-level documentation with packet diagrams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 Preamble 64B/66B Block Format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sequence_number                | control_flags|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reserved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llr_preamble_64b66b Packet Layout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llr_preamble_64b66b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99"/>
                <a:gridCol w="708480"/>
                <a:gridCol w="797040"/>
                <a:gridCol w="708480"/>
                <a:gridCol w="704052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sequence_number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Sequence number (24 bits). LLR frame sequence number.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flags (8 bits). LLR-specific control.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(32 bits). MUST be 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LLR_ACK Control Ordered Set (CtlOS)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block_type   |  ctlos_type   |ack_nack_seq_hi|ack_nack_seq_m|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|ack_nack_seq_lo|  reserved_d5  |  reserved_d6  |  reserved_d7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llr_ack_ctlos Packet Layout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llr_ack_ctlos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0150"/>
                <a:gridCol w="700297"/>
                <a:gridCol w="700297"/>
                <a:gridCol w="700297"/>
                <a:gridCol w="613607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block_type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Block Type Field for 64B/66B control block.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ctlos_type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CtlOS Message Type identifier.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[19:12] (upper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[11:4] (middle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ack_nack_seq_low_and_ocode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LLR_NACK Control Ordered Set (CtlOS)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block_type   |  ctlos_type   |ack_nack_seq_hi|ack_nack_seq_m|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|ack_nack_seq_lo|  reserved_d5  |  reserved_d6  |  reserved_d7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llr_nack_ctlos Packet Layout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llr_nack_ctlos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481"/>
                <a:gridCol w="693303"/>
                <a:gridCol w="693303"/>
                <a:gridCol w="693303"/>
                <a:gridCol w="639572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block_type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Block Type Field for 64B/66B control block. MUST be 0x4B.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ctlos_type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CtlOS Message Type identifier. MUST be 0x02 for LLR_NACK.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[19:12] (upper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ACK/NACK sequence number bits [11:4] (middle 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ack_nack_seq_low_and_ocode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field: ack_nack_seq[3:0] (upper nibble) + O-code (l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reserved_d7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field. MUST be 0x00.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 CF_Update Control Ordered Set (CtlOS)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control_char  | message_type  |cf1_vc_and_coun| cf1_count_mid|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|cf1_count_low_a|cf2_vc_and_coun| cf2_count_mid |cf2_count_low_|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cbfc_cf_update Packet Layout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cbfc_cf_update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481"/>
                <a:gridCol w="693303"/>
                <a:gridCol w="693303"/>
                <a:gridCol w="693303"/>
                <a:gridCol w="639572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control_char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character value for UE control ordered set.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CtlOS Message Type identifier.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cf1_vc_and_count_high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cf1_count_mid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CF1 credit count bits [10:3] (middle 8 bits of 15-bit count)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cf1_count_low_and_ocode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cf2_vc_and_count_high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cf2_count_mid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CF2 credit count bits [10:3] (middle 8 bits of 15-bit count)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cf2_count_low_and_reserved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 containing: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 CC_Update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message_type  |vc_index_and_cc|cc_counter_mid |cc_counter_low|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reserved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cbfc_cc_update Packet Layout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cbfc_cc_update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525"/>
                <a:gridCol w="716830"/>
                <a:gridCol w="905857"/>
                <a:gridCol w="716830"/>
                <a:gridCol w="588807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type identifier for CC_Update.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vc_index_and_cc_high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Combined field: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cc_counter_mid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 counter middle 8 bits.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cc_counter_low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CC counter lower 4 bits (upper nibble).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(32 bits). MUST be 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Link Negotiation Options TLV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bytes (40 bits)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tlv_type   |   tlv_length    |    subtype    |l|c| reserved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ue_version        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ue_link_negotiation_tlv Packet Layout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ue_link_negotiation_tlv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285"/>
                <a:gridCol w="705380"/>
                <a:gridCol w="756642"/>
                <a:gridCol w="705380"/>
                <a:gridCol w="756643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Type = 127 (Organizationally Specific TLV).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Length in octets (variable, includes OUI + Subtype + Val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oui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Organizationally Unique Identifier (OUI) for Ultra Ethernet 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subtype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UE-specific subtype = 1 (Link Negotiation Options).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llr_enabled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Layer Retry (LLR) enabled flag.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cbfc_enabled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Credit-Based Flow Control (CBFC) enabled flag.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bits, must be 0.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ue_version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 Specification version supported.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 CBFC TLV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bytes (96 bits)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tlv_type   |   tlv_length    |    subtype    |    num_vcs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credit_pool_size        |         lossless_vcs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lossless_vcs          |           reserved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ue_cbfc_tlv Packet Layout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ue_cbfc_tlv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382"/>
                <a:gridCol w="702579"/>
                <a:gridCol w="720143"/>
                <a:gridCol w="702579"/>
                <a:gridCol w="720143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Type = 127 (Organizationally Specific TLV).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tlv_length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TLV Length in octets (variable, includes OUI + Subtype + Val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oui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Organizationally Unique Identifier (OUI) for Ultra Ethernet 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subtype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UE-specific subtype = 2 (CBFC Configuration).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num_vcs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Number of virtual channels (VCs) supported.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credit_pool_size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Total credit pool size (in credits).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lossless_vcs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Bitmap of lossless VCs (bit N = 1 if VC N is lossless).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bytes, must be 0.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Specification and Documentation Sources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UE Specification v1.0.1, Chapter 3 (Transport Layer)</a:t>
            </a:r>
          </a:p>
          <a:p>
            <a:r>
              <a:t>• UE Specification v1.0.1, Chapter 4 (Network Layer)</a:t>
            </a:r>
          </a:p>
          <a:p>
            <a:r>
              <a:t>• UE Specification v1.0.1, Chapter 5 (Link Layer)</a:t>
            </a:r>
          </a:p>
          <a:p>
            <a:r>
              <a:t>• UE Specification v1.0.1, Section 3.4 (SES)</a:t>
            </a:r>
          </a:p>
          <a:p>
            <a:r>
              <a:t>• UE Specification v1.0.1, Section 3.5 (PDS)</a:t>
            </a:r>
          </a:p>
          <a:p>
            <a:r>
              <a:t>• UE Specification v1.0.1, Section 3.6 (CMS)</a:t>
            </a:r>
          </a:p>
          <a:p>
            <a:r>
              <a:t>• UE Specification v1.0.1, Section 3.7 (TSS)</a:t>
            </a:r>
          </a:p>
          <a:p>
            <a:r>
              <a:t>• UE Specification v1.0.1, Section 5.1 (LLR)</a:t>
            </a:r>
          </a:p>
          <a:p>
            <a:r>
              <a:t>• UE Specification v1.0.1, Section 5.2 (CBFC)</a:t>
            </a:r>
          </a:p>
          <a:p>
            <a:r>
              <a:t>• IEEE 802.3-2022, Clause 82.2.3 (64B/66B Block Format)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References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analysis/packet_taxonomy/packet_taxonomy_ue_pds.md - PDS format details</a:t>
            </a:r>
          </a:p>
          <a:p>
            <a:r>
              <a:t>• analysis/packet_taxonomy/packet_taxonomy_ue_ses.md - SES format details</a:t>
            </a:r>
          </a:p>
          <a:p>
            <a:r>
              <a:t>• analysis/packet_taxonomy/packet_taxonomy_ue_cms_tss.md - CMS/TSS format details</a:t>
            </a:r>
          </a:p>
          <a:p>
            <a:r>
              <a:t>• analysis/packet_taxonomy/packet_taxonomy_ue_link.md - Link layer format details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Documents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earlysim/datamodel/protocols/ue/transport/pds/ - 30 PDS files</a:t>
            </a:r>
          </a:p>
          <a:p>
            <a:r>
              <a:t>• earlysim/datamodel/protocols/ue/transport/ses/ - 27 SES files</a:t>
            </a:r>
          </a:p>
          <a:p>
            <a:r>
              <a:t>• earlysim/datamodel/protocols/ue/transport/cms/ - 15 CMS files</a:t>
            </a:r>
          </a:p>
          <a:p>
            <a:r>
              <a:t>• earlysim/datamodel/protocols/ue/transport/tss/ - 9 TSS files</a:t>
            </a:r>
          </a:p>
          <a:p>
            <a:r>
              <a:t>• earlysim/datamodel/protocols/ue/link/llr/ - 9 LLR files</a:t>
            </a:r>
          </a:p>
          <a:p>
            <a:r>
              <a:t>• earlysim/datamodel/protocols/ue/link/cbfc/ - 5 CBFC files</a:t>
            </a:r>
          </a:p>
          <a:p>
            <a:r>
              <a:t>• earlysim/datamodel/protocols/ue/link/lldp/ - 3 LLDP files</a:t>
            </a:r>
          </a:p>
          <a:p>
            <a:r>
              <a:t>• earlysim/datamodel/protocols/ue/network/ - 4 network files</a:t>
            </a:r>
          </a:p>
          <a:p>
            <a:r>
              <a:t>• earlysim/datamodel/protocols/ue/physical/ - 1 physical 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Location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" action="ppaction://hlinksldjump"/>
              </a:rPr>
              <a:t>Ultra Ethernet Overview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3" action="ppaction://hlinksldjump"/>
              </a:rPr>
              <a:t>UE Packet Variants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4" action="ppaction://hlinksldjump"/>
              </a:rPr>
              <a:t>Header Overhead Summary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5" action="ppaction://hlinksldjump"/>
              </a:rPr>
              <a:t>Protocol Architecture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6" action="ppaction://hlinksldjump"/>
              </a:rPr>
              <a:t>UE Protocol Enumerations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7" action="ppaction://hlinksldjump"/>
              </a:rPr>
              <a:t>UE Protocol State Machines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8" action="ppaction://hlinksldjump"/>
              </a:rPr>
              <a:t>PDS Header Building Blocks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9" action="ppaction://hlinksldjump"/>
              </a:rPr>
              <a:t>SES Header Building Blocks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0" action="ppaction://hlinksldjump"/>
              </a:rPr>
              <a:t>CMS Header Building Blocks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1" action="ppaction://hlinksldjump"/>
              </a:rPr>
              <a:t>TSS Header Building Blocks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2" action="ppaction://hlinksldjump"/>
              </a:rPr>
              <a:t>Link Layer Building Blocks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3" action="ppaction://hlinksldjump"/>
              </a:rPr>
              <a:t>Network and Physical Layer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4" action="ppaction://hlinksldjump"/>
              </a:rPr>
              <a:t>PDS Packet Variant Matrix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5" action="ppaction://hlinksldjump"/>
              </a:rPr>
              <a:t>SES Packet Variant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6" action="ppaction://hlinksldjump"/>
              </a:rPr>
              <a:t>Detailed Packet Structures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7" action="ppaction://hlinksldjump"/>
              </a:rPr>
              <a:t>State Machines Summary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8" action="ppaction://hlinksldjump"/>
              </a:rPr>
              <a:t>Header Overhead Summary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9" action="ppaction://hlinksldjump"/>
              </a:rPr>
              <a:t>Complete Datamodel Coverage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0" action="ppaction://hlinksldjump"/>
              </a:rPr>
              <a:t>Detailed Header Formats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1" action="ppaction://hlinksldjump"/>
              </a:rPr>
              <a:t>LLR Preamble 64B/66B Block Format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2" action="ppaction://hlinksldjump"/>
              </a:rPr>
              <a:t>LLR_ACK Control Ordered Set (CtlOS)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3" action="ppaction://hlinksldjump"/>
              </a:rPr>
              <a:t>LLR_NACK Control Ordered Set (CtlOS)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4" action="ppaction://hlinksldjump"/>
              </a:rPr>
              <a:t>CBFC CF_Update Control Ordered Set (CtlOS)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5" action="ppaction://hlinksldjump"/>
              </a:rPr>
              <a:t>CBFC CC_Update Message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6" action="ppaction://hlinksldjump"/>
              </a:rPr>
              <a:t>UE Link Negotiation Options TLV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7" action="ppaction://hlinksldjump"/>
              </a:rPr>
              <a:t>UE CBFC TLV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8" action="ppaction://hlinksldjump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02F04B8-C54B-480F-8EF5-E7029B480F57}" vid="{6988A6CD-D722-4DA6-AF03-B111BAEE2D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Description xmlns="http://schemas.microsoft.com/sharepoint.v3" xsi:nil="true"/>
    <lcf76f155ced4ddcb4097134ff3c332f xmlns="abc4e0d4-2e11-4d2b-931d-cb9fc30c6685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  <TaxCatchAll xmlns="b49ca187-4f68-45e7-8077-dcf9b25b72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53227EFA3D144B4F9B06F007145E3" ma:contentTypeVersion="48" ma:contentTypeDescription="Create a new document." ma:contentTypeScope="" ma:versionID="be0164df2a005fa2d390aab7505fd57f">
  <xsd:schema xmlns:xsd="http://www.w3.org/2001/XMLSchema" xmlns:xs="http://www.w3.org/2001/XMLSchema" xmlns:p="http://schemas.microsoft.com/office/2006/metadata/properties" xmlns:ns1="http://schemas.microsoft.com/sharepoint/v3" xmlns:ns2="b49ca187-4f68-45e7-8077-dcf9b25b7285" xmlns:ns3="abc4e0d4-2e11-4d2b-931d-cb9fc30c6685" xmlns:ns4="http://schemas.microsoft.com/sharepoint.v3" targetNamespace="http://schemas.microsoft.com/office/2006/metadata/properties" ma:root="true" ma:fieldsID="de4414065ad7fea119e785c8e6a86210" ns1:_="" ns2:_="" ns3:_="" ns4:_="">
    <xsd:import namespace="http://schemas.microsoft.com/sharepoint/v3"/>
    <xsd:import namespace="b49ca187-4f68-45e7-8077-dcf9b25b7285"/>
    <xsd:import namespace="abc4e0d4-2e11-4d2b-931d-cb9fc30c6685"/>
    <xsd:import namespace="http://schemas.microsoft.com/sharepoint.v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2:TaxCatchAll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4:Category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ca187-4f68-45e7-8077-dcf9b25b72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3094f560-c313-4005-8af5-6c328bc05426}" ma:internalName="TaxCatchAll" ma:showField="CatchAllData" ma:web="b49ca187-4f68-45e7-8077-dcf9b25b72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4e0d4-2e11-4d2b-931d-cb9fc30c6685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451702-ee48-4fb3-a7d0-1fc691b54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21" nillable="true" ma:displayName="Description" ma:internalName="Category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5674D-189E-4E26-AFF9-F8FA6DBD4AA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9DE1FF4-E276-452C-ACA1-58825830DA33}">
  <ds:schemaRefs>
    <ds:schemaRef ds:uri="http://schemas.microsoft.com/office/2006/metadata/properties"/>
    <ds:schemaRef ds:uri="http://schemas.microsoft.com/sharepoint.v3"/>
    <ds:schemaRef ds:uri="http://purl.org/dc/dcmitype/"/>
    <ds:schemaRef ds:uri="http://schemas.microsoft.com/office/infopath/2007/PartnerControls"/>
    <ds:schemaRef ds:uri="http://purl.org/dc/terms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abc4e0d4-2e11-4d2b-931d-cb9fc30c6685"/>
    <ds:schemaRef ds:uri="b49ca187-4f68-45e7-8077-dcf9b25b72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270A200-2018-40F2-ACF4-1EDCA097A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9ca187-4f68-45e7-8077-dcf9b25b7285"/>
    <ds:schemaRef ds:uri="abc4e0d4-2e11-4d2b-931d-cb9fc30c6685"/>
    <ds:schemaRef ds:uri="http://schemas.microsoft.com/sharepoint.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917AFFD-C253-4487-B83A-AAD30D5C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Atkins, Mark</dc:creator>
  <cp:lastModifiedBy>Atkins, Mark</cp:lastModifiedBy>
  <cp:revision>1</cp:revision>
  <dcterms:created xsi:type="dcterms:W3CDTF">2026-02-04T15:59:49Z</dcterms:created>
  <dcterms:modified xsi:type="dcterms:W3CDTF">2026-02-04T16:03:27Z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0x010100C8653227EFA3D144B4F9B06F007145E3</vt:lpwstr>
  </property>
  <property fmtid="{D5CDD505-2E9C-101B-9397-08002B2CF9AE}" pid="3" name="MediaServiceImageTags">
    <vt:lpwstr/>
  </property>
  <property fmtid="{D5CDD505-2E9C-101B-9397-08002B2CF9AE}" pid="4" name="b5c8439c0f5046928b7a6c406acb4c25">
    <vt:lpwstr/>
  </property>
  <property fmtid="{D5CDD505-2E9C-101B-9397-08002B2CF9AE}" pid="5" name="RefLibPTIDepartmentName">
    <vt:lpwstr/>
  </property>
  <property fmtid="{D5CDD505-2E9C-101B-9397-08002B2CF9AE}" pid="6" name="db0e9dfb34a048389a6f815dbdf60112">
    <vt:lpwstr/>
  </property>
  <property fmtid="{D5CDD505-2E9C-101B-9397-08002B2CF9AE}" pid="7" name="o6c0f2e36b054cee9d63e58c076b3545">
    <vt:lpwstr/>
  </property>
  <property fmtid="{D5CDD505-2E9C-101B-9397-08002B2CF9AE}" pid="8" name="RefLibPTIContentType">
    <vt:lpwstr/>
  </property>
  <property fmtid="{D5CDD505-2E9C-101B-9397-08002B2CF9AE}" pid="9" name="RefLibPTIPPCName">
    <vt:lpwstr/>
  </property>
</Properties>
</file>